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Default Extension="webp" ContentType="image/webp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lvl1pPr algn="l">
      <a:defRPr sz="1800"/>
    </a:lvl1pPr>
    <a:lvl2pPr>
      <a:defRPr sz="1400"/>
    </a:lvl2pPr>
    <a:lvl3pPr>
      <a:defRPr sz="1200"/>
    </a:lvl3pPr>
    <a:lvl4pPr>
      <a:defRPr sz="1200"/>
    </a:lvl4pPr>
    <a:lvl5pPr>
      <a:defRPr sz="1200"/>
    </a:lvl5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/>
    </p:titleStyle>
    <p:bodyStyle>
      <a:lvl1pPr algn="l"/>
    </p:bodyStyle>
    <p:otherStyle>
      <a:lvl1pPr algn="l"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d1_g_g_yz"/>
          <p:cNvSpPr/>
          <p:nvPr/>
        </p:nvSpPr>
        <p:spPr>
          <a:xfrm>
            <a:off x="741680" y="2819400"/>
            <a:ext cx="5120640" cy="2963291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1" name="d1_gl_g_yz"/>
          <p:cNvSpPr txBox="1"/>
          <p:nvPr/>
        </p:nvSpPr>
        <p:spPr>
          <a:xfrm>
            <a:off x="817880" y="2857500"/>
            <a:ext cx="496824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养殖体系</a:t>
            </a:r>
          </a:p>
        </p:txBody>
      </p:sp>
      <p:sp>
        <p:nvSpPr>
          <p:cNvPr id="1002" name="d1_r"/>
          <p:cNvSpPr/>
          <p:nvPr/>
        </p:nvSpPr>
        <p:spPr>
          <a:xfrm>
            <a:off x="5965571" y="1176909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3" name="d1_t_r"/>
          <p:cNvSpPr txBox="1"/>
          <p:nvPr/>
        </p:nvSpPr>
        <p:spPr>
          <a:xfrm>
            <a:off x="6041771" y="1374394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平台长</a:t>
            </a:r>
          </a:p>
        </p:txBody>
      </p:sp>
      <p:sp>
        <p:nvSpPr>
          <p:cNvPr id="1004" name="d1_o"/>
          <p:cNvSpPr/>
          <p:nvPr/>
        </p:nvSpPr>
        <p:spPr>
          <a:xfrm>
            <a:off x="2240280" y="3124200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5" name="d1_t_o"/>
          <p:cNvSpPr txBox="1"/>
          <p:nvPr/>
        </p:nvSpPr>
        <p:spPr>
          <a:xfrm>
            <a:off x="2316480" y="3321685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养殖组</a:t>
            </a:r>
          </a:p>
        </p:txBody>
      </p:sp>
      <p:sp>
        <p:nvSpPr>
          <p:cNvPr id="1006" name="d1_m"/>
          <p:cNvSpPr/>
          <p:nvPr/>
        </p:nvSpPr>
        <p:spPr>
          <a:xfrm>
            <a:off x="6431280" y="3124200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7" name="d1_t_m"/>
          <p:cNvSpPr txBox="1"/>
          <p:nvPr/>
        </p:nvSpPr>
        <p:spPr>
          <a:xfrm>
            <a:off x="6507480" y="3321685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装备组</a:t>
            </a:r>
          </a:p>
        </p:txBody>
      </p:sp>
      <p:sp>
        <p:nvSpPr>
          <p:cNvPr id="1008" name="d1_q"/>
          <p:cNvSpPr/>
          <p:nvPr/>
        </p:nvSpPr>
        <p:spPr>
          <a:xfrm>
            <a:off x="9225280" y="3124200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09" name="d1_t_q"/>
          <p:cNvSpPr txBox="1"/>
          <p:nvPr/>
        </p:nvSpPr>
        <p:spPr>
          <a:xfrm>
            <a:off x="9301480" y="3321685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质检组</a:t>
            </a:r>
          </a:p>
        </p:txBody>
      </p:sp>
      <p:sp>
        <p:nvSpPr>
          <p:cNvPr id="1010" name="d1_o1"/>
          <p:cNvSpPr/>
          <p:nvPr/>
        </p:nvSpPr>
        <p:spPr>
          <a:xfrm>
            <a:off x="843280" y="5071491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11" name="d1_t_o1"/>
          <p:cNvSpPr txBox="1"/>
          <p:nvPr/>
        </p:nvSpPr>
        <p:spPr>
          <a:xfrm>
            <a:off x="919480" y="5268976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投喂一班</a:t>
            </a:r>
          </a:p>
        </p:txBody>
      </p:sp>
      <p:sp>
        <p:nvSpPr>
          <p:cNvPr id="1012" name="d1_o2"/>
          <p:cNvSpPr/>
          <p:nvPr/>
        </p:nvSpPr>
        <p:spPr>
          <a:xfrm>
            <a:off x="3637280" y="5071491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13" name="d1_t_o2"/>
          <p:cNvSpPr txBox="1"/>
          <p:nvPr/>
        </p:nvSpPr>
        <p:spPr>
          <a:xfrm>
            <a:off x="3713480" y="5268976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投喂二班</a:t>
            </a:r>
          </a:p>
        </p:txBody>
      </p:sp>
      <p:sp>
        <p:nvSpPr>
          <p:cNvPr id="1014" name="d1_m1"/>
          <p:cNvSpPr/>
          <p:nvPr/>
        </p:nvSpPr>
        <p:spPr>
          <a:xfrm>
            <a:off x="6431280" y="5071491"/>
            <a:ext cx="2123440" cy="6096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15" name="d1_t_m1"/>
          <p:cNvSpPr txBox="1"/>
          <p:nvPr/>
        </p:nvSpPr>
        <p:spPr>
          <a:xfrm>
            <a:off x="6507480" y="5268976"/>
            <a:ext cx="197104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网衣维护</a:t>
            </a:r>
          </a:p>
        </p:txBody>
      </p:sp>
      <p:sp>
        <p:nvSpPr>
          <p:cNvPr id="1016" name="d1_e0"/>
          <p:cNvSpPr/>
          <p:nvPr/>
        </p:nvSpPr>
        <p:spPr>
          <a:xfrm>
            <a:off x="3302000" y="1786509"/>
            <a:ext cx="3725291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100000" y="49995"/>
                </a:lnTo>
                <a:lnTo>
                  <a:pt x="0" y="49995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7" name="d1_e1"/>
          <p:cNvSpPr/>
          <p:nvPr/>
        </p:nvSpPr>
        <p:spPr>
          <a:xfrm>
            <a:off x="7027291" y="1786509"/>
            <a:ext cx="465709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49995"/>
                </a:lnTo>
                <a:lnTo>
                  <a:pt x="100000" y="49995"/>
                </a:lnTo>
                <a:lnTo>
                  <a:pt x="10000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8" name="d1_e2"/>
          <p:cNvSpPr/>
          <p:nvPr/>
        </p:nvSpPr>
        <p:spPr>
          <a:xfrm>
            <a:off x="7027291" y="1786509"/>
            <a:ext cx="3259709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49995"/>
                </a:lnTo>
                <a:lnTo>
                  <a:pt x="100000" y="49995"/>
                </a:lnTo>
                <a:lnTo>
                  <a:pt x="10000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9" name="d1_e3"/>
          <p:cNvSpPr/>
          <p:nvPr/>
        </p:nvSpPr>
        <p:spPr>
          <a:xfrm>
            <a:off x="1905000" y="3733800"/>
            <a:ext cx="1397000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100000" y="50005"/>
                </a:lnTo>
                <a:lnTo>
                  <a:pt x="0" y="50005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20" name="d1_e4"/>
          <p:cNvSpPr/>
          <p:nvPr/>
        </p:nvSpPr>
        <p:spPr>
          <a:xfrm>
            <a:off x="3302000" y="3733800"/>
            <a:ext cx="1397000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50005"/>
                </a:lnTo>
                <a:lnTo>
                  <a:pt x="100000" y="50005"/>
                </a:lnTo>
                <a:lnTo>
                  <a:pt x="10000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21" name="d1_e5"/>
          <p:cNvSpPr/>
          <p:nvPr/>
        </p:nvSpPr>
        <p:spPr>
          <a:xfrm>
            <a:off x="7493000" y="3733800"/>
            <a:ext cx="0" cy="1337691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50005"/>
                </a:lnTo>
                <a:lnTo>
                  <a:pt x="0" y="50005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d2_mx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风险处置优先级</a:t>
            </a:r>
          </a:p>
        </p:txBody>
      </p:sp>
      <p:sp>
        <p:nvSpPr>
          <p:cNvPr id="1023" name="d2_k1"/>
          <p:cNvSpPr/>
          <p:nvPr/>
        </p:nvSpPr>
        <p:spPr>
          <a:xfrm>
            <a:off x="1651000" y="106680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24" name="d2_t_k1"/>
          <p:cNvSpPr txBox="1"/>
          <p:nvPr/>
        </p:nvSpPr>
        <p:spPr>
          <a:xfrm>
            <a:off x="1727200" y="223456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溶氧骤降</a:t>
            </a:r>
          </a:p>
        </p:txBody>
      </p:sp>
      <p:sp>
        <p:nvSpPr>
          <p:cNvPr id="1025" name="d2_k2"/>
          <p:cNvSpPr/>
          <p:nvPr/>
        </p:nvSpPr>
        <p:spPr>
          <a:xfrm>
            <a:off x="5056251" y="106680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26" name="d2_t_k2"/>
          <p:cNvSpPr txBox="1"/>
          <p:nvPr/>
        </p:nvSpPr>
        <p:spPr>
          <a:xfrm>
            <a:off x="5132451" y="223456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网衣破损</a:t>
            </a:r>
          </a:p>
        </p:txBody>
      </p:sp>
      <p:sp>
        <p:nvSpPr>
          <p:cNvPr id="1027" name="d2_k3"/>
          <p:cNvSpPr/>
          <p:nvPr/>
        </p:nvSpPr>
        <p:spPr>
          <a:xfrm>
            <a:off x="8461629" y="106680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28" name="d2_t_k3"/>
          <p:cNvSpPr txBox="1"/>
          <p:nvPr/>
        </p:nvSpPr>
        <p:spPr>
          <a:xfrm>
            <a:off x="8537829" y="223456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台风预警</a:t>
            </a:r>
          </a:p>
        </p:txBody>
      </p:sp>
      <p:sp>
        <p:nvSpPr>
          <p:cNvPr id="1029" name="d2_k4"/>
          <p:cNvSpPr/>
          <p:nvPr/>
        </p:nvSpPr>
        <p:spPr>
          <a:xfrm>
            <a:off x="1651000" y="379984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30" name="d2_t_k4"/>
          <p:cNvSpPr txBox="1"/>
          <p:nvPr/>
        </p:nvSpPr>
        <p:spPr>
          <a:xfrm>
            <a:off x="1727200" y="496760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附着物增多</a:t>
            </a:r>
          </a:p>
        </p:txBody>
      </p:sp>
      <p:sp>
        <p:nvSpPr>
          <p:cNvPr id="1031" name="d2_k5"/>
          <p:cNvSpPr/>
          <p:nvPr/>
        </p:nvSpPr>
        <p:spPr>
          <a:xfrm>
            <a:off x="5056251" y="379984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32" name="d2_t_k5"/>
          <p:cNvSpPr txBox="1"/>
          <p:nvPr/>
        </p:nvSpPr>
        <p:spPr>
          <a:xfrm>
            <a:off x="5132451" y="496760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锚链磨损</a:t>
            </a:r>
          </a:p>
        </p:txBody>
      </p:sp>
      <p:sp>
        <p:nvSpPr>
          <p:cNvPr id="1033" name="d2_k6"/>
          <p:cNvSpPr/>
          <p:nvPr/>
        </p:nvSpPr>
        <p:spPr>
          <a:xfrm>
            <a:off x="8461629" y="3799840"/>
            <a:ext cx="3222371" cy="25501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34" name="d2_t_k6"/>
          <p:cNvSpPr txBox="1"/>
          <p:nvPr/>
        </p:nvSpPr>
        <p:spPr>
          <a:xfrm>
            <a:off x="8537829" y="4967605"/>
            <a:ext cx="3069971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低温胁迫</a:t>
            </a:r>
          </a:p>
        </p:txBody>
      </p:sp>
      <p:sp>
        <p:nvSpPr>
          <p:cNvPr id="1035" name="d2_cl0"/>
          <p:cNvSpPr txBox="1"/>
          <p:nvPr/>
        </p:nvSpPr>
        <p:spPr>
          <a:xfrm>
            <a:off x="1651000" y="787400"/>
            <a:ext cx="3222371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可观察</a:t>
            </a:r>
          </a:p>
        </p:txBody>
      </p:sp>
      <p:sp>
        <p:nvSpPr>
          <p:cNvPr id="1036" name="d2_cl1"/>
          <p:cNvSpPr txBox="1"/>
          <p:nvPr/>
        </p:nvSpPr>
        <p:spPr>
          <a:xfrm>
            <a:off x="5056251" y="787400"/>
            <a:ext cx="3222371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当班处置</a:t>
            </a:r>
          </a:p>
        </p:txBody>
      </p:sp>
      <p:sp>
        <p:nvSpPr>
          <p:cNvPr id="1037" name="d2_cl2"/>
          <p:cNvSpPr txBox="1"/>
          <p:nvPr/>
        </p:nvSpPr>
        <p:spPr>
          <a:xfrm>
            <a:off x="8461629" y="787400"/>
            <a:ext cx="3222371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立即撤离</a:t>
            </a:r>
          </a:p>
        </p:txBody>
      </p:sp>
      <p:sp>
        <p:nvSpPr>
          <p:cNvPr id="1038" name="d2_rl0"/>
          <p:cNvSpPr txBox="1"/>
          <p:nvPr/>
        </p:nvSpPr>
        <p:spPr>
          <a:xfrm>
            <a:off x="508000" y="2240280"/>
            <a:ext cx="1041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r" lvl="0"/>
            <a:r>
              <a:rPr lang="zh-CN" sz="1100">
                <a:solidFill>
                  <a:srgbClr val="2E1065"/>
                </a:solidFill>
              </a:rPr>
              <a:t>高频</a:t>
            </a:r>
          </a:p>
        </p:txBody>
      </p:sp>
      <p:sp>
        <p:nvSpPr>
          <p:cNvPr id="1039" name="d2_rl1"/>
          <p:cNvSpPr txBox="1"/>
          <p:nvPr/>
        </p:nvSpPr>
        <p:spPr>
          <a:xfrm>
            <a:off x="508000" y="4973320"/>
            <a:ext cx="1041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r" lvl="0"/>
            <a:r>
              <a:rPr lang="zh-CN" sz="1100">
                <a:solidFill>
                  <a:srgbClr val="2E1065"/>
                </a:solidFill>
              </a:rPr>
              <a:t>低频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d3_tl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投苗到出栏</a:t>
            </a:r>
          </a:p>
        </p:txBody>
      </p:sp>
      <p:cxnSp>
        <p:nvCxnSpPr>
          <p:cNvPr id="1041" name="d3_axis"/>
          <p:cNvCxnSpPr/>
          <p:nvPr/>
        </p:nvCxnSpPr>
        <p:spPr>
          <a:xfrm>
            <a:off x="508000" y="3429000"/>
            <a:ext cx="11176000" cy="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42" name="d3_dot_t1"/>
          <p:cNvSpPr/>
          <p:nvPr/>
        </p:nvSpPr>
        <p:spPr>
          <a:xfrm>
            <a:off x="1324991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43" name="d3_stub_t1"/>
          <p:cNvCxnSpPr/>
          <p:nvPr/>
        </p:nvCxnSpPr>
        <p:spPr>
          <a:xfrm flipV="1">
            <a:off x="1439291" y="3162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44" name="d3_t_lb_t1"/>
          <p:cNvSpPr txBox="1"/>
          <p:nvPr/>
        </p:nvSpPr>
        <p:spPr>
          <a:xfrm>
            <a:off x="714629" y="29972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苗种检疫</a:t>
            </a:r>
          </a:p>
        </p:txBody>
      </p:sp>
      <p:sp>
        <p:nvSpPr>
          <p:cNvPr id="1045" name="d3_dot_t2"/>
          <p:cNvSpPr/>
          <p:nvPr/>
        </p:nvSpPr>
        <p:spPr>
          <a:xfrm>
            <a:off x="3187700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46" name="d3_stub_t2"/>
          <p:cNvCxnSpPr/>
          <p:nvPr/>
        </p:nvCxnSpPr>
        <p:spPr>
          <a:xfrm>
            <a:off x="3302000" y="3543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47" name="d3_t_lb_t2"/>
          <p:cNvSpPr txBox="1"/>
          <p:nvPr/>
        </p:nvSpPr>
        <p:spPr>
          <a:xfrm>
            <a:off x="2577211" y="37338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分级投苗</a:t>
            </a:r>
          </a:p>
        </p:txBody>
      </p:sp>
      <p:sp>
        <p:nvSpPr>
          <p:cNvPr id="1048" name="d3_dot_t3"/>
          <p:cNvSpPr/>
          <p:nvPr/>
        </p:nvSpPr>
        <p:spPr>
          <a:xfrm>
            <a:off x="5050409" y="3314700"/>
            <a:ext cx="228600" cy="2286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49" name="d3_stub_t3"/>
          <p:cNvCxnSpPr/>
          <p:nvPr/>
        </p:nvCxnSpPr>
        <p:spPr>
          <a:xfrm flipV="1">
            <a:off x="5164709" y="3162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50" name="d3_t_lb_t3"/>
          <p:cNvSpPr txBox="1"/>
          <p:nvPr/>
        </p:nvSpPr>
        <p:spPr>
          <a:xfrm>
            <a:off x="4439920" y="29972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中期分箱</a:t>
            </a:r>
          </a:p>
        </p:txBody>
      </p:sp>
      <p:sp>
        <p:nvSpPr>
          <p:cNvPr id="1051" name="d3_dot_t4"/>
          <p:cNvSpPr/>
          <p:nvPr/>
        </p:nvSpPr>
        <p:spPr>
          <a:xfrm>
            <a:off x="6912991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52" name="d3_stub_t4"/>
          <p:cNvCxnSpPr/>
          <p:nvPr/>
        </p:nvCxnSpPr>
        <p:spPr>
          <a:xfrm>
            <a:off x="7027291" y="3543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53" name="d3_t_lb_t4"/>
          <p:cNvSpPr txBox="1"/>
          <p:nvPr/>
        </p:nvSpPr>
        <p:spPr>
          <a:xfrm>
            <a:off x="6302629" y="37338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强化育肥</a:t>
            </a:r>
          </a:p>
        </p:txBody>
      </p:sp>
      <p:sp>
        <p:nvSpPr>
          <p:cNvPr id="1054" name="d3_dot_t5"/>
          <p:cNvSpPr/>
          <p:nvPr/>
        </p:nvSpPr>
        <p:spPr>
          <a:xfrm>
            <a:off x="8775700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55" name="d3_stub_t5"/>
          <p:cNvCxnSpPr/>
          <p:nvPr/>
        </p:nvCxnSpPr>
        <p:spPr>
          <a:xfrm flipV="1">
            <a:off x="8890000" y="3162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56" name="d3_t_lb_t5"/>
          <p:cNvSpPr txBox="1"/>
          <p:nvPr/>
        </p:nvSpPr>
        <p:spPr>
          <a:xfrm>
            <a:off x="8165211" y="29972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起网抽检</a:t>
            </a:r>
          </a:p>
        </p:txBody>
      </p:sp>
      <p:sp>
        <p:nvSpPr>
          <p:cNvPr id="1057" name="d3_dot_t6"/>
          <p:cNvSpPr/>
          <p:nvPr/>
        </p:nvSpPr>
        <p:spPr>
          <a:xfrm>
            <a:off x="10638409" y="3314700"/>
            <a:ext cx="228600" cy="228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058" name="d3_stub_t6"/>
          <p:cNvCxnSpPr/>
          <p:nvPr/>
        </p:nvCxnSpPr>
        <p:spPr>
          <a:xfrm>
            <a:off x="10752709" y="3543300"/>
            <a:ext cx="0" cy="15240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59" name="d3_t_lb_t6"/>
          <p:cNvSpPr txBox="1"/>
          <p:nvPr/>
        </p:nvSpPr>
        <p:spPr>
          <a:xfrm>
            <a:off x="10027920" y="3733800"/>
            <a:ext cx="1449451" cy="1778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2E1065"/>
                </a:solidFill>
              </a:rPr>
              <a:t>成鱼出栏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d4_lane_l1"/>
          <p:cNvSpPr/>
          <p:nvPr/>
        </p:nvSpPr>
        <p:spPr>
          <a:xfrm>
            <a:off x="508000" y="508000"/>
            <a:ext cx="11176000" cy="1460500"/>
          </a:xfrm>
          <a:prstGeom prst="rect">
            <a:avLst/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61" name="d4_laneT_l1"/>
          <p:cNvSpPr txBox="1"/>
          <p:nvPr/>
        </p:nvSpPr>
        <p:spPr>
          <a:xfrm>
            <a:off x="609600" y="5588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集控</a:t>
            </a:r>
          </a:p>
        </p:txBody>
      </p:sp>
      <p:sp>
        <p:nvSpPr>
          <p:cNvPr id="1062" name="d4_a1"/>
          <p:cNvSpPr/>
          <p:nvPr/>
        </p:nvSpPr>
        <p:spPr>
          <a:xfrm>
            <a:off x="1955800" y="9588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63" name="d4_t_a1"/>
          <p:cNvSpPr txBox="1"/>
          <p:nvPr/>
        </p:nvSpPr>
        <p:spPr>
          <a:xfrm>
            <a:off x="2032000" y="12071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投喂计划</a:t>
            </a:r>
          </a:p>
        </p:txBody>
      </p:sp>
      <p:sp>
        <p:nvSpPr>
          <p:cNvPr id="1064" name="d4_a2"/>
          <p:cNvSpPr/>
          <p:nvPr/>
        </p:nvSpPr>
        <p:spPr>
          <a:xfrm>
            <a:off x="7696200" y="9588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65" name="d4_t_a2"/>
          <p:cNvSpPr txBox="1"/>
          <p:nvPr/>
        </p:nvSpPr>
        <p:spPr>
          <a:xfrm>
            <a:off x="7772400" y="12071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水质复核</a:t>
            </a:r>
          </a:p>
        </p:txBody>
      </p:sp>
      <p:sp>
        <p:nvSpPr>
          <p:cNvPr id="1066" name="d4_lane_l2"/>
          <p:cNvSpPr/>
          <p:nvPr/>
        </p:nvSpPr>
        <p:spPr>
          <a:xfrm>
            <a:off x="508000" y="1968500"/>
            <a:ext cx="11176000" cy="1460500"/>
          </a:xfrm>
          <a:prstGeom prst="rect">
            <a:avLst/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67" name="d4_laneT_l2"/>
          <p:cNvSpPr txBox="1"/>
          <p:nvPr/>
        </p:nvSpPr>
        <p:spPr>
          <a:xfrm>
            <a:off x="609600" y="20193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投喂</a:t>
            </a:r>
          </a:p>
        </p:txBody>
      </p:sp>
      <p:cxnSp>
        <p:nvCxnSpPr>
          <p:cNvPr id="1068" name="d4_sep_l2"/>
          <p:cNvCxnSpPr/>
          <p:nvPr/>
        </p:nvCxnSpPr>
        <p:spPr>
          <a:xfrm>
            <a:off x="508000" y="1968500"/>
            <a:ext cx="11176000" cy="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69" name="d4_b1"/>
          <p:cNvSpPr/>
          <p:nvPr/>
        </p:nvSpPr>
        <p:spPr>
          <a:xfrm>
            <a:off x="1955800" y="24193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70" name="d4_t_b1"/>
          <p:cNvSpPr txBox="1"/>
          <p:nvPr/>
        </p:nvSpPr>
        <p:spPr>
          <a:xfrm>
            <a:off x="2032000" y="26676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自动投喂</a:t>
            </a:r>
          </a:p>
        </p:txBody>
      </p:sp>
      <p:sp>
        <p:nvSpPr>
          <p:cNvPr id="1071" name="d4_lane_l3"/>
          <p:cNvSpPr/>
          <p:nvPr/>
        </p:nvSpPr>
        <p:spPr>
          <a:xfrm>
            <a:off x="508000" y="3429000"/>
            <a:ext cx="11176000" cy="1460500"/>
          </a:xfrm>
          <a:prstGeom prst="rect">
            <a:avLst/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72" name="d4_laneT_l3"/>
          <p:cNvSpPr txBox="1"/>
          <p:nvPr/>
        </p:nvSpPr>
        <p:spPr>
          <a:xfrm>
            <a:off x="609600" y="34798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潜水</a:t>
            </a:r>
          </a:p>
        </p:txBody>
      </p:sp>
      <p:cxnSp>
        <p:nvCxnSpPr>
          <p:cNvPr id="1073" name="d4_sep_l3"/>
          <p:cNvCxnSpPr/>
          <p:nvPr/>
        </p:nvCxnSpPr>
        <p:spPr>
          <a:xfrm>
            <a:off x="508000" y="3429000"/>
            <a:ext cx="11176000" cy="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74" name="d4_c1"/>
          <p:cNvSpPr/>
          <p:nvPr/>
        </p:nvSpPr>
        <p:spPr>
          <a:xfrm>
            <a:off x="1955800" y="38798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75" name="d4_t_c1"/>
          <p:cNvSpPr txBox="1"/>
          <p:nvPr/>
        </p:nvSpPr>
        <p:spPr>
          <a:xfrm>
            <a:off x="2032000" y="41281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水下巡检</a:t>
            </a:r>
          </a:p>
        </p:txBody>
      </p:sp>
      <p:sp>
        <p:nvSpPr>
          <p:cNvPr id="1076" name="d4_lane_l4"/>
          <p:cNvSpPr/>
          <p:nvPr/>
        </p:nvSpPr>
        <p:spPr>
          <a:xfrm>
            <a:off x="508000" y="4889500"/>
            <a:ext cx="11176000" cy="1460500"/>
          </a:xfrm>
          <a:prstGeom prst="rect">
            <a:avLst/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77" name="d4_laneT_l4"/>
          <p:cNvSpPr txBox="1"/>
          <p:nvPr/>
        </p:nvSpPr>
        <p:spPr>
          <a:xfrm>
            <a:off x="609600" y="49403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100">
                <a:solidFill>
                  <a:srgbClr val="2E1065"/>
                </a:solidFill>
              </a:rPr>
              <a:t>质检</a:t>
            </a:r>
          </a:p>
        </p:txBody>
      </p:sp>
      <p:cxnSp>
        <p:nvCxnSpPr>
          <p:cNvPr id="1078" name="d4_sep_l4"/>
          <p:cNvCxnSpPr/>
          <p:nvPr/>
        </p:nvCxnSpPr>
        <p:spPr>
          <a:xfrm>
            <a:off x="508000" y="4889500"/>
            <a:ext cx="11176000" cy="0"/>
          </a:xfrm>
          <a:prstGeom prst="straightConnector1">
            <a:avLst/>
          </a:prstGeom>
          <a:ln w="12700">
            <a:solidFill>
              <a:srgbClr val="2E1065"/>
            </a:solidFill>
          </a:ln>
        </p:spPr>
      </p:cxnSp>
      <p:sp>
        <p:nvSpPr>
          <p:cNvPr id="1079" name="d4_d1"/>
          <p:cNvSpPr/>
          <p:nvPr/>
        </p:nvSpPr>
        <p:spPr>
          <a:xfrm>
            <a:off x="1955800" y="53403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80" name="d4_t_d1"/>
          <p:cNvSpPr txBox="1"/>
          <p:nvPr/>
        </p:nvSpPr>
        <p:spPr>
          <a:xfrm>
            <a:off x="2032000" y="55886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取样检测</a:t>
            </a:r>
          </a:p>
        </p:txBody>
      </p:sp>
      <p:sp>
        <p:nvSpPr>
          <p:cNvPr id="1081" name="d4_d2"/>
          <p:cNvSpPr/>
          <p:nvPr/>
        </p:nvSpPr>
        <p:spPr>
          <a:xfrm>
            <a:off x="7696200" y="5340350"/>
            <a:ext cx="2540000" cy="7112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82" name="d4_t_d2"/>
          <p:cNvSpPr txBox="1"/>
          <p:nvPr/>
        </p:nvSpPr>
        <p:spPr>
          <a:xfrm>
            <a:off x="7772400" y="5588635"/>
            <a:ext cx="2387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结果归档</a:t>
            </a:r>
          </a:p>
        </p:txBody>
      </p:sp>
      <p:cxnSp>
        <p:nvCxnSpPr>
          <p:cNvPr id="1083" name="d4_e0"/>
          <p:cNvCxnSpPr/>
          <p:nvPr/>
        </p:nvCxnSpPr>
        <p:spPr>
          <a:xfrm>
            <a:off x="4495800" y="1314450"/>
            <a:ext cx="32004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084" name="d4_el_e0"/>
          <p:cNvSpPr txBox="1"/>
          <p:nvPr/>
        </p:nvSpPr>
        <p:spPr>
          <a:xfrm>
            <a:off x="5956300" y="1085850"/>
            <a:ext cx="279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复核</a:t>
            </a:r>
          </a:p>
        </p:txBody>
      </p:sp>
      <p:sp>
        <p:nvSpPr>
          <p:cNvPr id="1085" name="d4_e1"/>
          <p:cNvSpPr/>
          <p:nvPr/>
        </p:nvSpPr>
        <p:spPr>
          <a:xfrm>
            <a:off x="3225800" y="1670050"/>
            <a:ext cx="5740400" cy="7493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100000" y="19492"/>
                </a:lnTo>
                <a:lnTo>
                  <a:pt x="0" y="19492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86" name="d4_e2"/>
          <p:cNvSpPr/>
          <p:nvPr/>
        </p:nvSpPr>
        <p:spPr>
          <a:xfrm>
            <a:off x="3225800" y="3130550"/>
            <a:ext cx="0" cy="7493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19492"/>
                </a:lnTo>
                <a:lnTo>
                  <a:pt x="0" y="19492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87" name="d4_e3"/>
          <p:cNvSpPr/>
          <p:nvPr/>
        </p:nvSpPr>
        <p:spPr>
          <a:xfrm>
            <a:off x="3225800" y="4591050"/>
            <a:ext cx="0" cy="7493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0" y="19492"/>
                </a:lnTo>
                <a:lnTo>
                  <a:pt x="0" y="19492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cxnSp>
        <p:nvCxnSpPr>
          <p:cNvPr id="1088" name="d4_e4"/>
          <p:cNvCxnSpPr/>
          <p:nvPr/>
        </p:nvCxnSpPr>
        <p:spPr>
          <a:xfrm>
            <a:off x="4495800" y="5695950"/>
            <a:ext cx="32004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d5_cmp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网衣清洗两方案</a:t>
            </a:r>
          </a:p>
        </p:txBody>
      </p:sp>
      <p:sp>
        <p:nvSpPr>
          <p:cNvPr id="1090" name="d5_g_right"/>
          <p:cNvSpPr/>
          <p:nvPr/>
        </p:nvSpPr>
        <p:spPr>
          <a:xfrm>
            <a:off x="6339840" y="762000"/>
            <a:ext cx="5344160" cy="55880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1" name="d5_gl_right"/>
          <p:cNvSpPr txBox="1"/>
          <p:nvPr/>
        </p:nvSpPr>
        <p:spPr>
          <a:xfrm>
            <a:off x="6466840" y="863600"/>
            <a:ext cx="509016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200">
                <a:solidFill>
                  <a:srgbClr val="2E1065"/>
                </a:solidFill>
              </a:rPr>
              <a:t>方案 B：机器人</a:t>
            </a:r>
          </a:p>
        </p:txBody>
      </p:sp>
      <p:sp>
        <p:nvSpPr>
          <p:cNvPr id="1092" name="d5_g_left"/>
          <p:cNvSpPr/>
          <p:nvPr/>
        </p:nvSpPr>
        <p:spPr>
          <a:xfrm>
            <a:off x="508000" y="762000"/>
            <a:ext cx="5344160" cy="55880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3" name="d5_gl_left"/>
          <p:cNvSpPr txBox="1"/>
          <p:nvPr/>
        </p:nvSpPr>
        <p:spPr>
          <a:xfrm>
            <a:off x="635000" y="863600"/>
            <a:ext cx="509016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200">
                <a:solidFill>
                  <a:srgbClr val="2E1065"/>
                </a:solidFill>
              </a:rPr>
              <a:t>方案 A：人工</a:t>
            </a:r>
          </a:p>
        </p:txBody>
      </p:sp>
      <p:sp>
        <p:nvSpPr>
          <p:cNvPr id="1094" name="d5_a1"/>
          <p:cNvSpPr/>
          <p:nvPr/>
        </p:nvSpPr>
        <p:spPr>
          <a:xfrm>
            <a:off x="508000" y="109220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5" name="d5_t_a1"/>
          <p:cNvSpPr txBox="1"/>
          <p:nvPr/>
        </p:nvSpPr>
        <p:spPr>
          <a:xfrm>
            <a:off x="584200" y="157353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潜水人工</a:t>
            </a:r>
          </a:p>
        </p:txBody>
      </p:sp>
      <p:sp>
        <p:nvSpPr>
          <p:cNvPr id="1096" name="d5_a2"/>
          <p:cNvSpPr/>
          <p:nvPr/>
        </p:nvSpPr>
        <p:spPr>
          <a:xfrm>
            <a:off x="508000" y="245237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7" name="d5_t_a2"/>
          <p:cNvSpPr txBox="1"/>
          <p:nvPr/>
        </p:nvSpPr>
        <p:spPr>
          <a:xfrm>
            <a:off x="584200" y="293370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清洗彻底</a:t>
            </a:r>
          </a:p>
        </p:txBody>
      </p:sp>
      <p:sp>
        <p:nvSpPr>
          <p:cNvPr id="1098" name="d5_a3"/>
          <p:cNvSpPr/>
          <p:nvPr/>
        </p:nvSpPr>
        <p:spPr>
          <a:xfrm>
            <a:off x="508000" y="381254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099" name="d5_t_a3"/>
          <p:cNvSpPr txBox="1"/>
          <p:nvPr/>
        </p:nvSpPr>
        <p:spPr>
          <a:xfrm>
            <a:off x="584200" y="429387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窗口 ≤2h</a:t>
            </a:r>
          </a:p>
        </p:txBody>
      </p:sp>
      <p:sp>
        <p:nvSpPr>
          <p:cNvPr id="1100" name="d5_a4"/>
          <p:cNvSpPr/>
          <p:nvPr/>
        </p:nvSpPr>
        <p:spPr>
          <a:xfrm>
            <a:off x="508000" y="517271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1" name="d5_t_a4"/>
          <p:cNvSpPr txBox="1"/>
          <p:nvPr/>
        </p:nvSpPr>
        <p:spPr>
          <a:xfrm>
            <a:off x="584200" y="565404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人力紧张</a:t>
            </a:r>
          </a:p>
        </p:txBody>
      </p:sp>
      <p:sp>
        <p:nvSpPr>
          <p:cNvPr id="1102" name="d5_b1"/>
          <p:cNvSpPr/>
          <p:nvPr/>
        </p:nvSpPr>
        <p:spPr>
          <a:xfrm>
            <a:off x="6339840" y="109220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3" name="d5_t_b1"/>
          <p:cNvSpPr txBox="1"/>
          <p:nvPr/>
        </p:nvSpPr>
        <p:spPr>
          <a:xfrm>
            <a:off x="6416040" y="157353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水下机器人</a:t>
            </a:r>
          </a:p>
        </p:txBody>
      </p:sp>
      <p:sp>
        <p:nvSpPr>
          <p:cNvPr id="1104" name="d5_b2"/>
          <p:cNvSpPr/>
          <p:nvPr/>
        </p:nvSpPr>
        <p:spPr>
          <a:xfrm>
            <a:off x="6339840" y="245237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5" name="d5_t_b2"/>
          <p:cNvSpPr txBox="1"/>
          <p:nvPr/>
        </p:nvSpPr>
        <p:spPr>
          <a:xfrm>
            <a:off x="6416040" y="293370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可夜间作业</a:t>
            </a:r>
          </a:p>
        </p:txBody>
      </p:sp>
      <p:sp>
        <p:nvSpPr>
          <p:cNvPr id="1106" name="d5_b3"/>
          <p:cNvSpPr/>
          <p:nvPr/>
        </p:nvSpPr>
        <p:spPr>
          <a:xfrm>
            <a:off x="6339840" y="381254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7" name="d5_t_b3"/>
          <p:cNvSpPr txBox="1"/>
          <p:nvPr/>
        </p:nvSpPr>
        <p:spPr>
          <a:xfrm>
            <a:off x="6416040" y="429387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覆盖率 92%</a:t>
            </a:r>
          </a:p>
        </p:txBody>
      </p:sp>
      <p:sp>
        <p:nvSpPr>
          <p:cNvPr id="1108" name="d5_b4"/>
          <p:cNvSpPr/>
          <p:nvPr/>
        </p:nvSpPr>
        <p:spPr>
          <a:xfrm>
            <a:off x="6339840" y="5172710"/>
            <a:ext cx="5344160" cy="117729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09" name="d5_t_b4"/>
          <p:cNvSpPr txBox="1"/>
          <p:nvPr/>
        </p:nvSpPr>
        <p:spPr>
          <a:xfrm>
            <a:off x="6416040" y="5654040"/>
            <a:ext cx="519176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购置成本高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d6_cyc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水质调控闭环</a:t>
            </a:r>
          </a:p>
        </p:txBody>
      </p:sp>
      <p:sp>
        <p:nvSpPr>
          <p:cNvPr id="1111" name="d6_q1"/>
          <p:cNvSpPr/>
          <p:nvPr/>
        </p:nvSpPr>
        <p:spPr>
          <a:xfrm>
            <a:off x="5484241" y="787400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12" name="d6_t_q1"/>
          <p:cNvSpPr txBox="1"/>
          <p:nvPr/>
        </p:nvSpPr>
        <p:spPr>
          <a:xfrm>
            <a:off x="5560441" y="895985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传感器采集</a:t>
            </a:r>
          </a:p>
        </p:txBody>
      </p:sp>
      <p:sp>
        <p:nvSpPr>
          <p:cNvPr id="1113" name="d6_q2"/>
          <p:cNvSpPr/>
          <p:nvPr/>
        </p:nvSpPr>
        <p:spPr>
          <a:xfrm>
            <a:off x="7791196" y="2463546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14" name="d6_t_q2"/>
          <p:cNvSpPr txBox="1"/>
          <p:nvPr/>
        </p:nvSpPr>
        <p:spPr>
          <a:xfrm>
            <a:off x="7867396" y="2572131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趋势预测</a:t>
            </a:r>
          </a:p>
        </p:txBody>
      </p:sp>
      <p:sp>
        <p:nvSpPr>
          <p:cNvPr id="1115" name="d6_q3"/>
          <p:cNvSpPr/>
          <p:nvPr/>
        </p:nvSpPr>
        <p:spPr>
          <a:xfrm>
            <a:off x="6910070" y="5175504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16" name="d6_t_q3"/>
          <p:cNvSpPr txBox="1"/>
          <p:nvPr/>
        </p:nvSpPr>
        <p:spPr>
          <a:xfrm>
            <a:off x="6986270" y="5284089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投喂调整</a:t>
            </a:r>
          </a:p>
        </p:txBody>
      </p:sp>
      <p:sp>
        <p:nvSpPr>
          <p:cNvPr id="1117" name="d6_q4"/>
          <p:cNvSpPr/>
          <p:nvPr/>
        </p:nvSpPr>
        <p:spPr>
          <a:xfrm>
            <a:off x="4058412" y="5175504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18" name="d6_t_q4"/>
          <p:cNvSpPr txBox="1"/>
          <p:nvPr/>
        </p:nvSpPr>
        <p:spPr>
          <a:xfrm>
            <a:off x="4134612" y="5284089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效果复核</a:t>
            </a:r>
          </a:p>
        </p:txBody>
      </p:sp>
      <p:sp>
        <p:nvSpPr>
          <p:cNvPr id="1119" name="d6_q5"/>
          <p:cNvSpPr/>
          <p:nvPr/>
        </p:nvSpPr>
        <p:spPr>
          <a:xfrm>
            <a:off x="3177286" y="2463546"/>
            <a:ext cx="1223518" cy="4318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20" name="d6_t_q5"/>
          <p:cNvSpPr txBox="1"/>
          <p:nvPr/>
        </p:nvSpPr>
        <p:spPr>
          <a:xfrm>
            <a:off x="3253486" y="2572131"/>
            <a:ext cx="1071118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阈值回写</a:t>
            </a:r>
          </a:p>
        </p:txBody>
      </p:sp>
      <p:sp>
        <p:nvSpPr>
          <p:cNvPr id="1121" name="d6_e0"/>
          <p:cNvSpPr/>
          <p:nvPr/>
        </p:nvSpPr>
        <p:spPr>
          <a:xfrm>
            <a:off x="6707759" y="1103376"/>
            <a:ext cx="1583817" cy="136017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0821" y="11597"/>
                </a:lnTo>
                <a:lnTo>
                  <a:pt x="10000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22" name="d6_e1"/>
          <p:cNvSpPr/>
          <p:nvPr/>
        </p:nvSpPr>
        <p:spPr>
          <a:xfrm>
            <a:off x="7735443" y="2895346"/>
            <a:ext cx="909066" cy="2280158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77061" y="0"/>
                </a:moveTo>
                <a:lnTo>
                  <a:pt x="100000" y="59719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23" name="d6_e2"/>
          <p:cNvSpPr/>
          <p:nvPr/>
        </p:nvSpPr>
        <p:spPr>
          <a:xfrm>
            <a:off x="5099431" y="5607304"/>
            <a:ext cx="1993138" cy="501396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50000" y="100000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24" name="d6_e3"/>
          <p:cNvSpPr/>
          <p:nvPr/>
        </p:nvSpPr>
        <p:spPr>
          <a:xfrm>
            <a:off x="3547491" y="2895346"/>
            <a:ext cx="909066" cy="2280158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100000"/>
                </a:moveTo>
                <a:lnTo>
                  <a:pt x="0" y="59719"/>
                </a:lnTo>
                <a:lnTo>
                  <a:pt x="22939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25" name="d6_e4"/>
          <p:cNvSpPr/>
          <p:nvPr/>
        </p:nvSpPr>
        <p:spPr>
          <a:xfrm>
            <a:off x="3900424" y="1103376"/>
            <a:ext cx="1583817" cy="136017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100000"/>
                </a:moveTo>
                <a:lnTo>
                  <a:pt x="39179" y="11597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d7_fn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分级出栏漏斗</a:t>
            </a:r>
          </a:p>
        </p:txBody>
      </p:sp>
      <p:sp>
        <p:nvSpPr>
          <p:cNvPr id="1127" name="d7_f1"/>
          <p:cNvSpPr/>
          <p:nvPr/>
        </p:nvSpPr>
        <p:spPr>
          <a:xfrm>
            <a:off x="508000" y="787400"/>
            <a:ext cx="11176000" cy="1390650"/>
          </a:xfrm>
          <a:custGeom>
            <a:avLst/>
            <a:gdLst/>
            <a:ahLst/>
            <a:cxnLst/>
            <a:rect l="l" t="t" r="r" b="b"/>
            <a:pathLst>
              <a:path w="880" h="110">
                <a:moveTo>
                  <a:pt x="0" y="0"/>
                </a:moveTo>
                <a:lnTo>
                  <a:pt x="880" y="0"/>
                </a:lnTo>
                <a:lnTo>
                  <a:pt x="795" y="110"/>
                </a:lnTo>
                <a:lnTo>
                  <a:pt x="85" y="110"/>
                </a:lnTo>
                <a:close/>
              </a:path>
            </a:pathLst>
          </a:cu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28" name="d7_t_f1"/>
          <p:cNvSpPr txBox="1"/>
          <p:nvPr/>
        </p:nvSpPr>
        <p:spPr>
          <a:xfrm>
            <a:off x="508000" y="1375410"/>
            <a:ext cx="11176000" cy="2146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存栏 52000</a:t>
            </a:r>
          </a:p>
        </p:txBody>
      </p:sp>
      <p:sp>
        <p:nvSpPr>
          <p:cNvPr id="1129" name="d7_f2"/>
          <p:cNvSpPr/>
          <p:nvPr/>
        </p:nvSpPr>
        <p:spPr>
          <a:xfrm>
            <a:off x="1588389" y="2178050"/>
            <a:ext cx="9015349" cy="1390650"/>
          </a:xfrm>
          <a:custGeom>
            <a:avLst/>
            <a:gdLst/>
            <a:ahLst/>
            <a:cxnLst/>
            <a:rect l="l" t="t" r="r" b="b"/>
            <a:pathLst>
              <a:path w="710" h="110">
                <a:moveTo>
                  <a:pt x="0" y="0"/>
                </a:moveTo>
                <a:lnTo>
                  <a:pt x="710" y="0"/>
                </a:lnTo>
                <a:lnTo>
                  <a:pt x="625" y="110"/>
                </a:lnTo>
                <a:lnTo>
                  <a:pt x="85" y="110"/>
                </a:lnTo>
                <a:close/>
              </a:path>
            </a:pathLst>
          </a:cu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0" name="d7_t_f2"/>
          <p:cNvSpPr txBox="1"/>
          <p:nvPr/>
        </p:nvSpPr>
        <p:spPr>
          <a:xfrm>
            <a:off x="1588389" y="2766060"/>
            <a:ext cx="9015349" cy="2146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达捕捞规格 31000</a:t>
            </a:r>
          </a:p>
        </p:txBody>
      </p:sp>
      <p:sp>
        <p:nvSpPr>
          <p:cNvPr id="1131" name="d7_f3"/>
          <p:cNvSpPr/>
          <p:nvPr/>
        </p:nvSpPr>
        <p:spPr>
          <a:xfrm>
            <a:off x="2668651" y="3568700"/>
            <a:ext cx="6854571" cy="1390650"/>
          </a:xfrm>
          <a:custGeom>
            <a:avLst/>
            <a:gdLst/>
            <a:ahLst/>
            <a:cxnLst/>
            <a:rect l="l" t="t" r="r" b="b"/>
            <a:pathLst>
              <a:path w="540" h="110">
                <a:moveTo>
                  <a:pt x="0" y="0"/>
                </a:moveTo>
                <a:lnTo>
                  <a:pt x="540" y="0"/>
                </a:lnTo>
                <a:lnTo>
                  <a:pt x="455" y="110"/>
                </a:lnTo>
                <a:lnTo>
                  <a:pt x="85" y="110"/>
                </a:lnTo>
                <a:close/>
              </a:path>
            </a:pathLst>
          </a:cu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2" name="d7_t_f3"/>
          <p:cNvSpPr txBox="1"/>
          <p:nvPr/>
        </p:nvSpPr>
        <p:spPr>
          <a:xfrm>
            <a:off x="2668651" y="4156710"/>
            <a:ext cx="6854571" cy="2146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抽检合格 18400</a:t>
            </a:r>
          </a:p>
        </p:txBody>
      </p:sp>
      <p:sp>
        <p:nvSpPr>
          <p:cNvPr id="1133" name="d7_f4"/>
          <p:cNvSpPr/>
          <p:nvPr/>
        </p:nvSpPr>
        <p:spPr>
          <a:xfrm>
            <a:off x="3749040" y="4959350"/>
            <a:ext cx="4693920" cy="1390650"/>
          </a:xfrm>
          <a:custGeom>
            <a:avLst/>
            <a:gdLst/>
            <a:ahLst/>
            <a:cxnLst/>
            <a:rect l="l" t="t" r="r" b="b"/>
            <a:pathLst>
              <a:path w="370" h="110">
                <a:moveTo>
                  <a:pt x="0" y="0"/>
                </a:moveTo>
                <a:lnTo>
                  <a:pt x="370" y="0"/>
                </a:lnTo>
                <a:lnTo>
                  <a:pt x="262" y="110"/>
                </a:lnTo>
                <a:lnTo>
                  <a:pt x="107" y="110"/>
                </a:lnTo>
                <a:close/>
              </a:path>
            </a:pathLst>
          </a:cu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4" name="d7_t_f4"/>
          <p:cNvSpPr txBox="1"/>
          <p:nvPr/>
        </p:nvSpPr>
        <p:spPr>
          <a:xfrm>
            <a:off x="3749040" y="5547360"/>
            <a:ext cx="4693920" cy="2146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直供 5600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d8_st_title"/>
          <p:cNvSpPr txBox="1"/>
          <p:nvPr/>
        </p:nvSpPr>
        <p:spPr>
          <a:xfrm>
            <a:off x="609600" y="3251200"/>
            <a:ext cx="2540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巡检七步</a:t>
            </a:r>
          </a:p>
        </p:txBody>
      </p:sp>
      <p:sp>
        <p:nvSpPr>
          <p:cNvPr id="1136" name="d8_ring"/>
          <p:cNvSpPr/>
          <p:nvPr/>
        </p:nvSpPr>
        <p:spPr>
          <a:xfrm>
            <a:off x="3937000" y="1270000"/>
            <a:ext cx="4318000" cy="4318000"/>
          </a:xfrm>
          <a:prstGeom prst="ellipse">
            <a:avLst/>
          </a:prstGeom>
          <a:solidFill>
            <a:srgbClr val="FAF5FF"/>
          </a:solidFill>
          <a:ln w="381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7" name="d8_s1"/>
          <p:cNvSpPr/>
          <p:nvPr/>
        </p:nvSpPr>
        <p:spPr>
          <a:xfrm>
            <a:off x="5842000" y="1016000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38" name="d8_n_s1"/>
          <p:cNvSpPr txBox="1"/>
          <p:nvPr/>
        </p:nvSpPr>
        <p:spPr>
          <a:xfrm>
            <a:off x="5842000" y="1121410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39" name="d8_s2"/>
          <p:cNvSpPr/>
          <p:nvPr/>
        </p:nvSpPr>
        <p:spPr>
          <a:xfrm>
            <a:off x="7529957" y="1828927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0" name="d8_n_s2"/>
          <p:cNvSpPr txBox="1"/>
          <p:nvPr/>
        </p:nvSpPr>
        <p:spPr>
          <a:xfrm>
            <a:off x="7529957" y="1934337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41" name="d8_s3"/>
          <p:cNvSpPr/>
          <p:nvPr/>
        </p:nvSpPr>
        <p:spPr>
          <a:xfrm>
            <a:off x="7946898" y="3655441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2" name="d8_n_s3"/>
          <p:cNvSpPr txBox="1"/>
          <p:nvPr/>
        </p:nvSpPr>
        <p:spPr>
          <a:xfrm>
            <a:off x="7946898" y="3760851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43" name="d8_s4"/>
          <p:cNvSpPr/>
          <p:nvPr/>
        </p:nvSpPr>
        <p:spPr>
          <a:xfrm>
            <a:off x="6778752" y="5120132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4" name="d8_n_s4"/>
          <p:cNvSpPr txBox="1"/>
          <p:nvPr/>
        </p:nvSpPr>
        <p:spPr>
          <a:xfrm>
            <a:off x="6778752" y="5225542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45" name="d8_s5"/>
          <p:cNvSpPr/>
          <p:nvPr/>
        </p:nvSpPr>
        <p:spPr>
          <a:xfrm>
            <a:off x="4905248" y="5120132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6" name="d8_n_s5"/>
          <p:cNvSpPr txBox="1"/>
          <p:nvPr/>
        </p:nvSpPr>
        <p:spPr>
          <a:xfrm>
            <a:off x="4905248" y="5225542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147" name="d8_s6"/>
          <p:cNvSpPr/>
          <p:nvPr/>
        </p:nvSpPr>
        <p:spPr>
          <a:xfrm>
            <a:off x="3737102" y="3655441"/>
            <a:ext cx="508000" cy="5080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48" name="d8_n_s6"/>
          <p:cNvSpPr txBox="1"/>
          <p:nvPr/>
        </p:nvSpPr>
        <p:spPr>
          <a:xfrm>
            <a:off x="3737102" y="3760851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149" name="d8_s7"/>
          <p:cNvSpPr/>
          <p:nvPr/>
        </p:nvSpPr>
        <p:spPr>
          <a:xfrm>
            <a:off x="4154043" y="1828927"/>
            <a:ext cx="508000" cy="5080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50" name="d8_n_s7"/>
          <p:cNvSpPr txBox="1"/>
          <p:nvPr/>
        </p:nvSpPr>
        <p:spPr>
          <a:xfrm>
            <a:off x="4154043" y="1934337"/>
            <a:ext cx="508000" cy="29718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80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151" name="d8_t_s1"/>
          <p:cNvSpPr txBox="1"/>
          <p:nvPr/>
        </p:nvSpPr>
        <p:spPr>
          <a:xfrm>
            <a:off x="5715000" y="635000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出海申报</a:t>
            </a:r>
          </a:p>
        </p:txBody>
      </p:sp>
      <p:sp>
        <p:nvSpPr>
          <p:cNvPr id="1152" name="d8_t_s2"/>
          <p:cNvSpPr txBox="1"/>
          <p:nvPr/>
        </p:nvSpPr>
        <p:spPr>
          <a:xfrm>
            <a:off x="8009255" y="1485011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断电挂牌</a:t>
            </a:r>
          </a:p>
        </p:txBody>
      </p:sp>
      <p:sp>
        <p:nvSpPr>
          <p:cNvPr id="1153" name="d8_t_s3"/>
          <p:cNvSpPr txBox="1"/>
          <p:nvPr/>
        </p:nvSpPr>
        <p:spPr>
          <a:xfrm>
            <a:off x="8602980" y="3973830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网衣外观</a:t>
            </a:r>
          </a:p>
        </p:txBody>
      </p:sp>
      <p:sp>
        <p:nvSpPr>
          <p:cNvPr id="1154" name="d8_t_s4"/>
          <p:cNvSpPr txBox="1"/>
          <p:nvPr/>
        </p:nvSpPr>
        <p:spPr>
          <a:xfrm>
            <a:off x="6944487" y="5867781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锚链张力</a:t>
            </a:r>
          </a:p>
        </p:txBody>
      </p:sp>
      <p:sp>
        <p:nvSpPr>
          <p:cNvPr id="1155" name="d8_t_s5"/>
          <p:cNvSpPr txBox="1"/>
          <p:nvPr/>
        </p:nvSpPr>
        <p:spPr>
          <a:xfrm>
            <a:off x="4485513" y="5867781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溶氧复测</a:t>
            </a:r>
          </a:p>
        </p:txBody>
      </p:sp>
      <p:sp>
        <p:nvSpPr>
          <p:cNvPr id="1156" name="d8_t_s6"/>
          <p:cNvSpPr txBox="1"/>
          <p:nvPr/>
        </p:nvSpPr>
        <p:spPr>
          <a:xfrm>
            <a:off x="2827020" y="3973830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设备保养</a:t>
            </a:r>
          </a:p>
        </p:txBody>
      </p:sp>
      <p:sp>
        <p:nvSpPr>
          <p:cNvPr id="1157" name="d8_t_s7"/>
          <p:cNvSpPr txBox="1"/>
          <p:nvPr/>
        </p:nvSpPr>
        <p:spPr>
          <a:xfrm>
            <a:off x="3420745" y="1485011"/>
            <a:ext cx="762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数据回传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d9_sq_title"/>
          <p:cNvSpPr txBox="1"/>
          <p:nvPr/>
        </p:nvSpPr>
        <p:spPr>
          <a:xfrm>
            <a:off x="508000" y="508000"/>
            <a:ext cx="11176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400">
                <a:solidFill>
                  <a:srgbClr val="2E1065"/>
                </a:solidFill>
              </a:rPr>
              <a:t>投喂指令时序</a:t>
            </a:r>
          </a:p>
        </p:txBody>
      </p:sp>
      <p:sp>
        <p:nvSpPr>
          <p:cNvPr id="1159" name="d9_u"/>
          <p:cNvSpPr/>
          <p:nvPr/>
        </p:nvSpPr>
        <p:spPr>
          <a:xfrm>
            <a:off x="647700" y="762000"/>
            <a:ext cx="2286000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0" name="d9_t_u"/>
          <p:cNvSpPr txBox="1"/>
          <p:nvPr/>
        </p:nvSpPr>
        <p:spPr>
          <a:xfrm>
            <a:off x="723900" y="870585"/>
            <a:ext cx="2133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岸基中心</a:t>
            </a:r>
          </a:p>
        </p:txBody>
      </p:sp>
      <p:sp>
        <p:nvSpPr>
          <p:cNvPr id="1161" name="d9_ll_u"/>
          <p:cNvSpPr/>
          <p:nvPr/>
        </p:nvSpPr>
        <p:spPr>
          <a:xfrm>
            <a:off x="1778000" y="1193800"/>
            <a:ext cx="25400" cy="5054600"/>
          </a:xfrm>
          <a:prstGeom prst="rect">
            <a:avLst/>
          </a:prstGeom>
          <a:solidFill>
            <a:srgbClr val="2E1065"/>
          </a:solidFill>
          <a:ln w="635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2" name="d9_p"/>
          <p:cNvSpPr/>
          <p:nvPr/>
        </p:nvSpPr>
        <p:spPr>
          <a:xfrm>
            <a:off x="3517900" y="762000"/>
            <a:ext cx="2286000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3" name="d9_t_p"/>
          <p:cNvSpPr txBox="1"/>
          <p:nvPr/>
        </p:nvSpPr>
        <p:spPr>
          <a:xfrm>
            <a:off x="3594100" y="870585"/>
            <a:ext cx="2133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平台终端</a:t>
            </a:r>
          </a:p>
        </p:txBody>
      </p:sp>
      <p:sp>
        <p:nvSpPr>
          <p:cNvPr id="1164" name="d9_ll_p"/>
          <p:cNvSpPr/>
          <p:nvPr/>
        </p:nvSpPr>
        <p:spPr>
          <a:xfrm>
            <a:off x="4648200" y="1193800"/>
            <a:ext cx="25400" cy="5054600"/>
          </a:xfrm>
          <a:prstGeom prst="rect">
            <a:avLst/>
          </a:prstGeom>
          <a:solidFill>
            <a:srgbClr val="2E1065"/>
          </a:solidFill>
          <a:ln w="635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5" name="d9_f"/>
          <p:cNvSpPr/>
          <p:nvPr/>
        </p:nvSpPr>
        <p:spPr>
          <a:xfrm>
            <a:off x="6388100" y="762000"/>
            <a:ext cx="2286000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6" name="d9_t_f"/>
          <p:cNvSpPr txBox="1"/>
          <p:nvPr/>
        </p:nvSpPr>
        <p:spPr>
          <a:xfrm>
            <a:off x="6464300" y="870585"/>
            <a:ext cx="2133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投喂机</a:t>
            </a:r>
          </a:p>
        </p:txBody>
      </p:sp>
      <p:sp>
        <p:nvSpPr>
          <p:cNvPr id="1167" name="d9_ll_f"/>
          <p:cNvSpPr/>
          <p:nvPr/>
        </p:nvSpPr>
        <p:spPr>
          <a:xfrm>
            <a:off x="7518400" y="1193800"/>
            <a:ext cx="25400" cy="5054600"/>
          </a:xfrm>
          <a:prstGeom prst="rect">
            <a:avLst/>
          </a:prstGeom>
          <a:solidFill>
            <a:srgbClr val="2E1065"/>
          </a:solidFill>
          <a:ln w="635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8" name="d9_s"/>
          <p:cNvSpPr/>
          <p:nvPr/>
        </p:nvSpPr>
        <p:spPr>
          <a:xfrm>
            <a:off x="9258300" y="762000"/>
            <a:ext cx="2286000" cy="431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69" name="d9_t_s"/>
          <p:cNvSpPr txBox="1"/>
          <p:nvPr/>
        </p:nvSpPr>
        <p:spPr>
          <a:xfrm>
            <a:off x="9334500" y="870585"/>
            <a:ext cx="21336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水下相机</a:t>
            </a:r>
          </a:p>
        </p:txBody>
      </p:sp>
      <p:sp>
        <p:nvSpPr>
          <p:cNvPr id="1170" name="d9_ll_s"/>
          <p:cNvSpPr/>
          <p:nvPr/>
        </p:nvSpPr>
        <p:spPr>
          <a:xfrm>
            <a:off x="10388600" y="1193800"/>
            <a:ext cx="25400" cy="5054600"/>
          </a:xfrm>
          <a:prstGeom prst="rect">
            <a:avLst/>
          </a:prstGeom>
          <a:solidFill>
            <a:srgbClr val="2E1065"/>
          </a:solidFill>
          <a:ln w="635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171" name="d9_m0"/>
          <p:cNvCxnSpPr/>
          <p:nvPr/>
        </p:nvCxnSpPr>
        <p:spPr>
          <a:xfrm>
            <a:off x="1803400" y="1860550"/>
            <a:ext cx="284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172" name="d9_el_m0"/>
          <p:cNvSpPr txBox="1"/>
          <p:nvPr/>
        </p:nvSpPr>
        <p:spPr>
          <a:xfrm>
            <a:off x="2946400" y="16319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下发计划</a:t>
            </a:r>
          </a:p>
        </p:txBody>
      </p:sp>
      <p:cxnSp>
        <p:nvCxnSpPr>
          <p:cNvPr id="1173" name="d9_m1"/>
          <p:cNvCxnSpPr/>
          <p:nvPr/>
        </p:nvCxnSpPr>
        <p:spPr>
          <a:xfrm>
            <a:off x="4673600" y="2635250"/>
            <a:ext cx="284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174" name="d9_el_m1"/>
          <p:cNvSpPr txBox="1"/>
          <p:nvPr/>
        </p:nvSpPr>
        <p:spPr>
          <a:xfrm>
            <a:off x="5816600" y="24066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启动投喂</a:t>
            </a:r>
          </a:p>
        </p:txBody>
      </p:sp>
      <p:cxnSp>
        <p:nvCxnSpPr>
          <p:cNvPr id="1175" name="d9_m2"/>
          <p:cNvCxnSpPr/>
          <p:nvPr/>
        </p:nvCxnSpPr>
        <p:spPr>
          <a:xfrm flipH="1">
            <a:off x="4673600" y="3409950"/>
            <a:ext cx="284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176" name="d9_el_m2"/>
          <p:cNvSpPr txBox="1"/>
          <p:nvPr/>
        </p:nvSpPr>
        <p:spPr>
          <a:xfrm>
            <a:off x="5816600" y="31813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投喂完成</a:t>
            </a:r>
          </a:p>
        </p:txBody>
      </p:sp>
      <p:cxnSp>
        <p:nvCxnSpPr>
          <p:cNvPr id="1177" name="d9_m3"/>
          <p:cNvCxnSpPr/>
          <p:nvPr/>
        </p:nvCxnSpPr>
        <p:spPr>
          <a:xfrm flipH="1">
            <a:off x="4673600" y="4184650"/>
            <a:ext cx="57150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178" name="d9_el_m3"/>
          <p:cNvSpPr txBox="1"/>
          <p:nvPr/>
        </p:nvSpPr>
        <p:spPr>
          <a:xfrm>
            <a:off x="7251700" y="39560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残饵画面</a:t>
            </a:r>
          </a:p>
        </p:txBody>
      </p:sp>
      <p:cxnSp>
        <p:nvCxnSpPr>
          <p:cNvPr id="1179" name="d9_m4"/>
          <p:cNvCxnSpPr/>
          <p:nvPr/>
        </p:nvCxnSpPr>
        <p:spPr>
          <a:xfrm flipH="1">
            <a:off x="1803400" y="4959350"/>
            <a:ext cx="2844800" cy="0"/>
          </a:xfrm>
          <a:prstGeom prst="straightConnector1">
            <a:avLst/>
          </a:prstGeom>
          <a:ln w="12700">
            <a:solidFill>
              <a:srgbClr val="2E1065"/>
            </a:solidFill>
            <a:prstDash val="dash"/>
            <a:tailEnd type="triangle" w="med" len="med"/>
          </a:ln>
        </p:spPr>
      </p:cxnSp>
      <p:sp>
        <p:nvSpPr>
          <p:cNvPr id="1180" name="d9_el_m4"/>
          <p:cNvSpPr txBox="1"/>
          <p:nvPr/>
        </p:nvSpPr>
        <p:spPr>
          <a:xfrm>
            <a:off x="2946400" y="4730750"/>
            <a:ext cx="5588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当班汇总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d10_s0"/>
          <p:cNvSpPr/>
          <p:nvPr/>
        </p:nvSpPr>
        <p:spPr>
          <a:xfrm>
            <a:off x="5080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82" name="d10_t_s0"/>
          <p:cNvSpPr txBox="1"/>
          <p:nvPr/>
        </p:nvSpPr>
        <p:spPr>
          <a:xfrm>
            <a:off x="5842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空箱</a:t>
            </a:r>
          </a:p>
        </p:txBody>
      </p:sp>
      <p:sp>
        <p:nvSpPr>
          <p:cNvPr id="1183" name="d10_s1"/>
          <p:cNvSpPr/>
          <p:nvPr/>
        </p:nvSpPr>
        <p:spPr>
          <a:xfrm>
            <a:off x="31242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84" name="d10_t_s1"/>
          <p:cNvSpPr txBox="1"/>
          <p:nvPr/>
        </p:nvSpPr>
        <p:spPr>
          <a:xfrm>
            <a:off x="32004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已投苗</a:t>
            </a:r>
          </a:p>
        </p:txBody>
      </p:sp>
      <p:sp>
        <p:nvSpPr>
          <p:cNvPr id="1185" name="d10_s2"/>
          <p:cNvSpPr/>
          <p:nvPr/>
        </p:nvSpPr>
        <p:spPr>
          <a:xfrm>
            <a:off x="57404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86" name="d10_t_s2"/>
          <p:cNvSpPr txBox="1"/>
          <p:nvPr/>
        </p:nvSpPr>
        <p:spPr>
          <a:xfrm>
            <a:off x="58166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育肥中</a:t>
            </a:r>
          </a:p>
        </p:txBody>
      </p:sp>
      <p:sp>
        <p:nvSpPr>
          <p:cNvPr id="1187" name="d10_s3"/>
          <p:cNvSpPr/>
          <p:nvPr/>
        </p:nvSpPr>
        <p:spPr>
          <a:xfrm>
            <a:off x="83566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88" name="d10_t_s3"/>
          <p:cNvSpPr txBox="1"/>
          <p:nvPr/>
        </p:nvSpPr>
        <p:spPr>
          <a:xfrm>
            <a:off x="84328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待出栏</a:t>
            </a:r>
          </a:p>
        </p:txBody>
      </p:sp>
      <p:sp>
        <p:nvSpPr>
          <p:cNvPr id="1189" name="d10_s4"/>
          <p:cNvSpPr/>
          <p:nvPr/>
        </p:nvSpPr>
        <p:spPr>
          <a:xfrm>
            <a:off x="10972800" y="197612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190" name="d10_t_s4"/>
          <p:cNvSpPr txBox="1"/>
          <p:nvPr/>
        </p:nvSpPr>
        <p:spPr>
          <a:xfrm>
            <a:off x="11049000" y="2211705"/>
            <a:ext cx="558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已清空</a:t>
            </a:r>
          </a:p>
        </p:txBody>
      </p:sp>
      <p:sp>
        <p:nvSpPr>
          <p:cNvPr id="1191" name="d10_e0"/>
          <p:cNvSpPr/>
          <p:nvPr/>
        </p:nvSpPr>
        <p:spPr>
          <a:xfrm>
            <a:off x="1219200" y="2319020"/>
            <a:ext cx="19050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0000" y="0"/>
                </a:lnTo>
                <a:lnTo>
                  <a:pt x="50000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2" name="d10_e1"/>
          <p:cNvSpPr/>
          <p:nvPr/>
        </p:nvSpPr>
        <p:spPr>
          <a:xfrm>
            <a:off x="3835400" y="2319020"/>
            <a:ext cx="19050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0000" y="0"/>
                </a:lnTo>
                <a:lnTo>
                  <a:pt x="50000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3" name="d10_e2"/>
          <p:cNvSpPr/>
          <p:nvPr/>
        </p:nvSpPr>
        <p:spPr>
          <a:xfrm>
            <a:off x="6451600" y="2319020"/>
            <a:ext cx="19050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0000" y="0"/>
                </a:lnTo>
                <a:lnTo>
                  <a:pt x="50000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4" name="d10_e3"/>
          <p:cNvSpPr/>
          <p:nvPr/>
        </p:nvSpPr>
        <p:spPr>
          <a:xfrm>
            <a:off x="9067800" y="2319020"/>
            <a:ext cx="19050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0000" y="0"/>
                </a:lnTo>
                <a:lnTo>
                  <a:pt x="50000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5" name="d10_e4"/>
          <p:cNvSpPr/>
          <p:nvPr/>
        </p:nvSpPr>
        <p:spPr>
          <a:xfrm>
            <a:off x="3479800" y="1493520"/>
            <a:ext cx="2794000" cy="482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100000"/>
                </a:moveTo>
                <a:lnTo>
                  <a:pt x="100000" y="1316"/>
                </a:lnTo>
                <a:lnTo>
                  <a:pt x="100000" y="0"/>
                </a:lnTo>
                <a:lnTo>
                  <a:pt x="0" y="0"/>
                </a:lnTo>
                <a:lnTo>
                  <a:pt x="0" y="1316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196" name="d10_lbl_s0_s1"/>
          <p:cNvSpPr txBox="1"/>
          <p:nvPr/>
        </p:nvSpPr>
        <p:spPr>
          <a:xfrm>
            <a:off x="2425700" y="2019300"/>
            <a:ext cx="4572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投苗</a:t>
            </a:r>
          </a:p>
        </p:txBody>
      </p:sp>
      <p:sp>
        <p:nvSpPr>
          <p:cNvPr id="1197" name="d10_lbl_s1_s2"/>
          <p:cNvSpPr txBox="1"/>
          <p:nvPr/>
        </p:nvSpPr>
        <p:spPr>
          <a:xfrm>
            <a:off x="4953000" y="2019300"/>
            <a:ext cx="6223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转育肥</a:t>
            </a:r>
          </a:p>
        </p:txBody>
      </p:sp>
      <p:sp>
        <p:nvSpPr>
          <p:cNvPr id="1198" name="d10_lbl_s2_s3"/>
          <p:cNvSpPr txBox="1"/>
          <p:nvPr/>
        </p:nvSpPr>
        <p:spPr>
          <a:xfrm>
            <a:off x="7569200" y="2019300"/>
            <a:ext cx="6223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达规格</a:t>
            </a:r>
          </a:p>
        </p:txBody>
      </p:sp>
      <p:sp>
        <p:nvSpPr>
          <p:cNvPr id="1199" name="d10_lbl_s3_s4"/>
          <p:cNvSpPr txBox="1"/>
          <p:nvPr/>
        </p:nvSpPr>
        <p:spPr>
          <a:xfrm>
            <a:off x="10109200" y="2019300"/>
            <a:ext cx="787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出栏完毕</a:t>
            </a:r>
          </a:p>
        </p:txBody>
      </p:sp>
      <p:sp>
        <p:nvSpPr>
          <p:cNvPr id="1200" name="d10_lbl_s2_s1"/>
          <p:cNvSpPr txBox="1"/>
          <p:nvPr/>
        </p:nvSpPr>
        <p:spPr>
          <a:xfrm>
            <a:off x="4483100" y="1193800"/>
            <a:ext cx="7874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100">
                <a:solidFill>
                  <a:srgbClr val="2E1065"/>
                </a:solidFill>
              </a:rPr>
              <a:t>规格不足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01" name="d11_e0"/>
          <p:cNvCxnSpPr/>
          <p:nvPr/>
        </p:nvCxnSpPr>
        <p:spPr>
          <a:xfrm>
            <a:off x="2360041" y="3429000"/>
            <a:ext cx="583565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cxnSp>
        <p:nvCxnSpPr>
          <p:cNvPr id="1202" name="d11_e1"/>
          <p:cNvCxnSpPr/>
          <p:nvPr/>
        </p:nvCxnSpPr>
        <p:spPr>
          <a:xfrm>
            <a:off x="4656201" y="3429000"/>
            <a:ext cx="583565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cxnSp>
        <p:nvCxnSpPr>
          <p:cNvPr id="1203" name="d11_e2"/>
          <p:cNvCxnSpPr/>
          <p:nvPr/>
        </p:nvCxnSpPr>
        <p:spPr>
          <a:xfrm>
            <a:off x="6952361" y="3429000"/>
            <a:ext cx="583565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cxnSp>
        <p:nvCxnSpPr>
          <p:cNvPr id="1204" name="d11_e3"/>
          <p:cNvCxnSpPr/>
          <p:nvPr/>
        </p:nvCxnSpPr>
        <p:spPr>
          <a:xfrm>
            <a:off x="9248521" y="3429000"/>
            <a:ext cx="583565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205" name="d11_a"/>
          <p:cNvSpPr/>
          <p:nvPr/>
        </p:nvSpPr>
        <p:spPr>
          <a:xfrm>
            <a:off x="64744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06" name="d11_t_a"/>
          <p:cNvSpPr txBox="1"/>
          <p:nvPr/>
        </p:nvSpPr>
        <p:spPr>
          <a:xfrm>
            <a:off x="72364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出栏申报</a:t>
            </a:r>
          </a:p>
        </p:txBody>
      </p:sp>
      <p:sp>
        <p:nvSpPr>
          <p:cNvPr id="1207" name="d11_b"/>
          <p:cNvSpPr/>
          <p:nvPr/>
        </p:nvSpPr>
        <p:spPr>
          <a:xfrm>
            <a:off x="294360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08" name="d11_t_b"/>
          <p:cNvSpPr txBox="1"/>
          <p:nvPr/>
        </p:nvSpPr>
        <p:spPr>
          <a:xfrm>
            <a:off x="301980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起网准备</a:t>
            </a:r>
          </a:p>
        </p:txBody>
      </p:sp>
      <p:sp>
        <p:nvSpPr>
          <p:cNvPr id="1209" name="d11_c"/>
          <p:cNvSpPr/>
          <p:nvPr/>
        </p:nvSpPr>
        <p:spPr>
          <a:xfrm>
            <a:off x="523976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0" name="d11_t_c"/>
          <p:cNvSpPr txBox="1"/>
          <p:nvPr/>
        </p:nvSpPr>
        <p:spPr>
          <a:xfrm>
            <a:off x="531596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起网</a:t>
            </a:r>
          </a:p>
        </p:txBody>
      </p:sp>
      <p:sp>
        <p:nvSpPr>
          <p:cNvPr id="1211" name="d11_d"/>
          <p:cNvSpPr/>
          <p:nvPr/>
        </p:nvSpPr>
        <p:spPr>
          <a:xfrm>
            <a:off x="753592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2" name="d11_t_d"/>
          <p:cNvSpPr txBox="1"/>
          <p:nvPr/>
        </p:nvSpPr>
        <p:spPr>
          <a:xfrm>
            <a:off x="761212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冰鲜装箱</a:t>
            </a:r>
          </a:p>
        </p:txBody>
      </p:sp>
      <p:sp>
        <p:nvSpPr>
          <p:cNvPr id="1213" name="d11_e"/>
          <p:cNvSpPr/>
          <p:nvPr/>
        </p:nvSpPr>
        <p:spPr>
          <a:xfrm>
            <a:off x="9832086" y="2667000"/>
            <a:ext cx="1712595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4" name="d11_t_e"/>
          <p:cNvSpPr txBox="1"/>
          <p:nvPr/>
        </p:nvSpPr>
        <p:spPr>
          <a:xfrm>
            <a:off x="9908286" y="3321685"/>
            <a:ext cx="1560195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驳船转运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d12_g_l1"/>
          <p:cNvSpPr/>
          <p:nvPr/>
        </p:nvSpPr>
        <p:spPr>
          <a:xfrm>
            <a:off x="508000" y="508000"/>
            <a:ext cx="1358900" cy="472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6" name="d12_g_l2"/>
          <p:cNvSpPr/>
          <p:nvPr/>
        </p:nvSpPr>
        <p:spPr>
          <a:xfrm>
            <a:off x="1917700" y="508000"/>
            <a:ext cx="1485900" cy="16510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7" name="d12_g_l3"/>
          <p:cNvSpPr/>
          <p:nvPr/>
        </p:nvSpPr>
        <p:spPr>
          <a:xfrm>
            <a:off x="3454400" y="508000"/>
            <a:ext cx="1485900" cy="472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18" name="d12_g_l4"/>
          <p:cNvSpPr/>
          <p:nvPr/>
        </p:nvSpPr>
        <p:spPr>
          <a:xfrm>
            <a:off x="4991100" y="508000"/>
            <a:ext cx="1485900" cy="16510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cxnSp>
        <p:nvCxnSpPr>
          <p:cNvPr id="1219" name="d12_e0"/>
          <p:cNvCxnSpPr/>
          <p:nvPr/>
        </p:nvCxnSpPr>
        <p:spPr>
          <a:xfrm>
            <a:off x="1739900" y="1270000"/>
            <a:ext cx="30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220" name="d12_e1"/>
          <p:cNvSpPr/>
          <p:nvPr/>
        </p:nvSpPr>
        <p:spPr>
          <a:xfrm>
            <a:off x="1123950" y="2032000"/>
            <a:ext cx="1536700" cy="154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100000"/>
                </a:moveTo>
                <a:lnTo>
                  <a:pt x="0" y="50000"/>
                </a:lnTo>
                <a:lnTo>
                  <a:pt x="100000" y="5000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cxnSp>
        <p:nvCxnSpPr>
          <p:cNvPr id="1221" name="d12_e2"/>
          <p:cNvCxnSpPr/>
          <p:nvPr/>
        </p:nvCxnSpPr>
        <p:spPr>
          <a:xfrm>
            <a:off x="3276600" y="1270000"/>
            <a:ext cx="304800" cy="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cxnSp>
        <p:nvCxnSpPr>
          <p:cNvPr id="1222" name="d12_e3"/>
          <p:cNvCxnSpPr/>
          <p:nvPr/>
        </p:nvCxnSpPr>
        <p:spPr>
          <a:xfrm>
            <a:off x="4197350" y="2032000"/>
            <a:ext cx="0" cy="1549400"/>
          </a:xfrm>
          <a:prstGeom prst="straightConnector1">
            <a:avLst/>
          </a:prstGeom>
          <a:ln w="12700">
            <a:solidFill>
              <a:srgbClr val="2E1065"/>
            </a:solidFill>
            <a:tailEnd type="triangle" w="med" len="med"/>
          </a:ln>
        </p:spPr>
      </p:cxnSp>
      <p:sp>
        <p:nvSpPr>
          <p:cNvPr id="1223" name="d12_e4"/>
          <p:cNvSpPr/>
          <p:nvPr/>
        </p:nvSpPr>
        <p:spPr>
          <a:xfrm>
            <a:off x="4197350" y="2032000"/>
            <a:ext cx="1536700" cy="154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100000"/>
                </a:moveTo>
                <a:lnTo>
                  <a:pt x="0" y="50000"/>
                </a:lnTo>
                <a:lnTo>
                  <a:pt x="100000" y="5000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2E1065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224" name="d12_a1"/>
          <p:cNvSpPr/>
          <p:nvPr/>
        </p:nvSpPr>
        <p:spPr>
          <a:xfrm>
            <a:off x="508000" y="5080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25" name="d12_t_a1"/>
          <p:cNvSpPr txBox="1"/>
          <p:nvPr/>
        </p:nvSpPr>
        <p:spPr>
          <a:xfrm>
            <a:off x="584200" y="11626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溶氧探头</a:t>
            </a:r>
          </a:p>
        </p:txBody>
      </p:sp>
      <p:sp>
        <p:nvSpPr>
          <p:cNvPr id="1226" name="d12_a2"/>
          <p:cNvSpPr/>
          <p:nvPr/>
        </p:nvSpPr>
        <p:spPr>
          <a:xfrm>
            <a:off x="508000" y="35814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27" name="d12_t_a2"/>
          <p:cNvSpPr txBox="1"/>
          <p:nvPr/>
        </p:nvSpPr>
        <p:spPr>
          <a:xfrm>
            <a:off x="584200" y="42360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水下相机</a:t>
            </a:r>
          </a:p>
        </p:txBody>
      </p:sp>
      <p:sp>
        <p:nvSpPr>
          <p:cNvPr id="1228" name="d12_b1"/>
          <p:cNvSpPr/>
          <p:nvPr/>
        </p:nvSpPr>
        <p:spPr>
          <a:xfrm>
            <a:off x="2044700" y="5080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29" name="d12_t_b1"/>
          <p:cNvSpPr txBox="1"/>
          <p:nvPr/>
        </p:nvSpPr>
        <p:spPr>
          <a:xfrm>
            <a:off x="2120900" y="11626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海缆与微波</a:t>
            </a:r>
          </a:p>
        </p:txBody>
      </p:sp>
      <p:sp>
        <p:nvSpPr>
          <p:cNvPr id="1230" name="d12_c1"/>
          <p:cNvSpPr/>
          <p:nvPr/>
        </p:nvSpPr>
        <p:spPr>
          <a:xfrm>
            <a:off x="3581400" y="5080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31" name="d12_t_c1"/>
          <p:cNvSpPr txBox="1"/>
          <p:nvPr/>
        </p:nvSpPr>
        <p:spPr>
          <a:xfrm>
            <a:off x="3657600" y="11626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生长模型</a:t>
            </a:r>
          </a:p>
        </p:txBody>
      </p:sp>
      <p:sp>
        <p:nvSpPr>
          <p:cNvPr id="1232" name="d12_c2"/>
          <p:cNvSpPr/>
          <p:nvPr/>
        </p:nvSpPr>
        <p:spPr>
          <a:xfrm>
            <a:off x="3581400" y="35814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33" name="d12_t_c2"/>
          <p:cNvSpPr txBox="1"/>
          <p:nvPr/>
        </p:nvSpPr>
        <p:spPr>
          <a:xfrm>
            <a:off x="3657600" y="42360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投喂决策</a:t>
            </a:r>
          </a:p>
        </p:txBody>
      </p:sp>
      <p:sp>
        <p:nvSpPr>
          <p:cNvPr id="1234" name="d12_d1"/>
          <p:cNvSpPr/>
          <p:nvPr/>
        </p:nvSpPr>
        <p:spPr>
          <a:xfrm>
            <a:off x="5118100" y="508000"/>
            <a:ext cx="1231900" cy="1524000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 w="12700">
            <a:solidFill>
              <a:srgbClr val="2E1065"/>
            </a:solidFill>
          </a:ln>
        </p:spPr>
        <p:txBody>
          <a:bodyPr rtlCol="0" anchor="ctr"/>
          <a:lstStyle/>
          <a:p/>
        </p:txBody>
      </p:sp>
      <p:sp>
        <p:nvSpPr>
          <p:cNvPr id="1235" name="d12_t_d1"/>
          <p:cNvSpPr txBox="1"/>
          <p:nvPr/>
        </p:nvSpPr>
        <p:spPr>
          <a:xfrm>
            <a:off x="5194300" y="1162685"/>
            <a:ext cx="10795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300">
                <a:solidFill>
                  <a:srgbClr val="FFFFFF"/>
                </a:solidFill>
              </a:rPr>
              <a:t>出栏排程看板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title"/>
          <p:cNvSpPr txBox="1"/>
          <p:nvPr/>
        </p:nvSpPr>
        <p:spPr>
          <a:xfrm>
            <a:off x="762000" y="508000"/>
            <a:ext cx="5842000" cy="5080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l" lvl="0"/>
            <a:r>
              <a:rPr lang="zh-CN" sz="2600" b="1">
                <a:solidFill>
                  <a:srgbClr val="2E1065"/>
                </a:solidFill>
              </a:rPr>
              <a:t>深海养殖平台架构</a:t>
            </a:r>
          </a:p>
        </p:txBody>
      </p:sp>
      <p:sp>
        <p:nvSpPr>
          <p:cNvPr id="1237" name="k1"/>
          <p:cNvSpPr txBox="1"/>
          <p:nvPr/>
        </p:nvSpPr>
        <p:spPr>
          <a:xfrm>
            <a:off x="889000" y="1270000"/>
            <a:ext cx="2794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l" lvl="0"/>
            <a:r>
              <a:rPr lang="zh-CN" sz="1500">
                <a:solidFill>
                  <a:srgbClr val="E11D48"/>
                </a:solidFill>
              </a:rPr>
              <a:t>① 感知层</a:t>
            </a:r>
          </a:p>
        </p:txBody>
      </p:sp>
      <p:sp>
        <p:nvSpPr>
          <p:cNvPr id="1238" name="k2"/>
          <p:cNvSpPr txBox="1"/>
          <p:nvPr/>
        </p:nvSpPr>
        <p:spPr>
          <a:xfrm>
            <a:off x="5080000" y="1270000"/>
            <a:ext cx="2794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500">
                <a:solidFill>
                  <a:srgbClr val="E11D48"/>
                </a:solidFill>
              </a:rPr>
              <a:t>② 平台层</a:t>
            </a:r>
          </a:p>
        </p:txBody>
      </p:sp>
      <p:sp>
        <p:nvSpPr>
          <p:cNvPr id="1239" name="k3"/>
          <p:cNvSpPr txBox="1"/>
          <p:nvPr/>
        </p:nvSpPr>
        <p:spPr>
          <a:xfrm>
            <a:off x="9144000" y="1270000"/>
            <a:ext cx="2413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500">
                <a:solidFill>
                  <a:srgbClr val="E11D48"/>
                </a:solidFill>
              </a:rPr>
              <a:t>③ 决策层</a:t>
            </a:r>
          </a:p>
        </p:txBody>
      </p:sp>
      <p:sp>
        <p:nvSpPr>
          <p:cNvPr id="1240" name="sens"/>
          <p:cNvSpPr/>
          <p:nvPr/>
        </p:nvSpPr>
        <p:spPr>
          <a:xfrm>
            <a:off x="1016000" y="2413000"/>
            <a:ext cx="2159000" cy="1651000"/>
          </a:xfrm>
          <a:prstGeom prst="parallelogram">
            <a:avLst>
              <a:gd name="adj" fmla="val 25000"/>
            </a:avLst>
          </a:prstGeom>
          <a:solidFill>
            <a:srgbClr val="E11D4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1" name="sens_lab"/>
          <p:cNvSpPr txBox="1"/>
          <p:nvPr/>
        </p:nvSpPr>
        <p:spPr>
          <a:xfrm>
            <a:off x="1524000" y="3048000"/>
            <a:ext cx="1270000" cy="3810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溶氧·水温</a:t>
            </a:r>
          </a:p>
        </p:txBody>
      </p:sp>
      <p:sp>
        <p:nvSpPr>
          <p:cNvPr id="1242" name="app"/>
          <p:cNvSpPr/>
          <p:nvPr/>
        </p:nvSpPr>
        <p:spPr>
          <a:xfrm>
            <a:off x="8890000" y="2413000"/>
            <a:ext cx="2159000" cy="1651000"/>
          </a:xfrm>
          <a:prstGeom prst="parallelogram">
            <a:avLst>
              <a:gd name="adj" fmla="val 2500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3" name="app_lab"/>
          <p:cNvSpPr txBox="1"/>
          <p:nvPr/>
        </p:nvSpPr>
        <p:spPr>
          <a:xfrm>
            <a:off x="9398000" y="3048000"/>
            <a:ext cx="1270000" cy="3810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出栏排程</a:t>
            </a:r>
          </a:p>
        </p:txBody>
      </p:sp>
      <p:sp>
        <p:nvSpPr>
          <p:cNvPr id="1244" name="core"/>
          <p:cNvSpPr/>
          <p:nvPr/>
        </p:nvSpPr>
        <p:spPr>
          <a:xfrm>
            <a:off x="4064000" y="1905000"/>
            <a:ext cx="4318000" cy="3048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5" name="m1"/>
          <p:cNvSpPr/>
          <p:nvPr/>
        </p:nvSpPr>
        <p:spPr>
          <a:xfrm>
            <a:off x="4381500" y="2222500"/>
            <a:ext cx="3683000" cy="711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6" name="m1_lab"/>
          <p:cNvSpPr txBox="1"/>
          <p:nvPr/>
        </p:nvSpPr>
        <p:spPr>
          <a:xfrm>
            <a:off x="4508500" y="2438400"/>
            <a:ext cx="3429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海缆与微波链路</a:t>
            </a:r>
          </a:p>
        </p:txBody>
      </p:sp>
      <p:sp>
        <p:nvSpPr>
          <p:cNvPr id="1247" name="m2"/>
          <p:cNvSpPr/>
          <p:nvPr/>
        </p:nvSpPr>
        <p:spPr>
          <a:xfrm>
            <a:off x="4381500" y="3111500"/>
            <a:ext cx="3683000" cy="711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48" name="m2_lab"/>
          <p:cNvSpPr txBox="1"/>
          <p:nvPr/>
        </p:nvSpPr>
        <p:spPr>
          <a:xfrm>
            <a:off x="4508500" y="3327400"/>
            <a:ext cx="3429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生长与水环境模型</a:t>
            </a:r>
          </a:p>
        </p:txBody>
      </p:sp>
      <p:sp>
        <p:nvSpPr>
          <p:cNvPr id="1249" name="m3"/>
          <p:cNvSpPr/>
          <p:nvPr/>
        </p:nvSpPr>
        <p:spPr>
          <a:xfrm>
            <a:off x="4381500" y="4000500"/>
            <a:ext cx="3683000" cy="711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50" name="m3_lab"/>
          <p:cNvSpPr txBox="1"/>
          <p:nvPr/>
        </p:nvSpPr>
        <p:spPr>
          <a:xfrm>
            <a:off x="4508500" y="4216400"/>
            <a:ext cx="3429000" cy="3048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200">
                <a:solidFill>
                  <a:srgbClr val="FAF5FF"/>
                </a:solidFill>
              </a:rPr>
              <a:t>投喂决策引擎</a:t>
            </a:r>
          </a:p>
        </p:txBody>
      </p:sp>
      <p:cxnSp>
        <p:nvCxnSpPr>
          <p:cNvPr id="1251" name="in_trunk"/>
          <p:cNvCxnSpPr/>
          <p:nvPr/>
        </p:nvCxnSpPr>
        <p:spPr>
          <a:xfrm>
            <a:off x="2968625" y="3238500"/>
            <a:ext cx="650875" cy="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2" name="in_v"/>
          <p:cNvCxnSpPr/>
          <p:nvPr/>
        </p:nvCxnSpPr>
        <p:spPr>
          <a:xfrm>
            <a:off x="3619500" y="2578100"/>
            <a:ext cx="0" cy="177800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3" name="br1"/>
          <p:cNvCxnSpPr/>
          <p:nvPr/>
        </p:nvCxnSpPr>
        <p:spPr>
          <a:xfrm>
            <a:off x="3619500" y="2578100"/>
            <a:ext cx="762000" cy="0"/>
          </a:xfrm>
          <a:prstGeom prst="straightConnector1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54" name="br2"/>
          <p:cNvCxnSpPr/>
          <p:nvPr/>
        </p:nvCxnSpPr>
        <p:spPr>
          <a:xfrm>
            <a:off x="3619500" y="3467100"/>
            <a:ext cx="762000" cy="0"/>
          </a:xfrm>
          <a:prstGeom prst="straightConnector1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55" name="br3"/>
          <p:cNvCxnSpPr/>
          <p:nvPr/>
        </p:nvCxnSpPr>
        <p:spPr>
          <a:xfrm>
            <a:off x="3619500" y="4356100"/>
            <a:ext cx="762000" cy="0"/>
          </a:xfrm>
          <a:prstGeom prst="straightConnector1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56" name="st1"/>
          <p:cNvCxnSpPr/>
          <p:nvPr/>
        </p:nvCxnSpPr>
        <p:spPr>
          <a:xfrm>
            <a:off x="8064500" y="2578100"/>
            <a:ext cx="444500" cy="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7" name="st2"/>
          <p:cNvCxnSpPr/>
          <p:nvPr/>
        </p:nvCxnSpPr>
        <p:spPr>
          <a:xfrm>
            <a:off x="8064500" y="3467100"/>
            <a:ext cx="444500" cy="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8" name="st3"/>
          <p:cNvCxnSpPr/>
          <p:nvPr/>
        </p:nvCxnSpPr>
        <p:spPr>
          <a:xfrm>
            <a:off x="8064500" y="4356100"/>
            <a:ext cx="444500" cy="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59" name="out_v"/>
          <p:cNvCxnSpPr/>
          <p:nvPr/>
        </p:nvCxnSpPr>
        <p:spPr>
          <a:xfrm>
            <a:off x="8509000" y="2578100"/>
            <a:ext cx="0" cy="1778000"/>
          </a:xfrm>
          <a:prstGeom prst="straightConnector1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60" name="out_arrow"/>
          <p:cNvCxnSpPr/>
          <p:nvPr/>
        </p:nvCxnSpPr>
        <p:spPr>
          <a:xfrm>
            <a:off x="8509000" y="3467100"/>
            <a:ext cx="530225" cy="0"/>
          </a:xfrm>
          <a:prstGeom prst="straightConnector1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261" name="fb"/>
          <p:cNvSpPr/>
          <p:nvPr/>
        </p:nvSpPr>
        <p:spPr>
          <a:xfrm>
            <a:off x="2095500" y="4064000"/>
            <a:ext cx="7874000" cy="18415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100000" y="100000"/>
                </a:lnTo>
                <a:lnTo>
                  <a:pt x="0" y="10000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2E1065"/>
            </a:solidFill>
            <a:prstDash val="dash"/>
            <a:tailEnd type="triangle" w="med" len="med"/>
          </a:ln>
        </p:spPr>
        <p:txBody>
          <a:bodyPr/>
          <a:lstStyle/>
          <a:p/>
        </p:txBody>
      </p:sp>
      <p:sp>
        <p:nvSpPr>
          <p:cNvPr id="1262" name="fb_mask"/>
          <p:cNvSpPr/>
          <p:nvPr/>
        </p:nvSpPr>
        <p:spPr>
          <a:xfrm>
            <a:off x="5270500" y="5753100"/>
            <a:ext cx="1651000" cy="3048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63" name="fb_lab"/>
          <p:cNvSpPr txBox="1"/>
          <p:nvPr/>
        </p:nvSpPr>
        <p:spPr>
          <a:xfrm>
            <a:off x="5270500" y="5791200"/>
            <a:ext cx="1651000" cy="2540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1300">
                <a:solidFill>
                  <a:srgbClr val="2E1065"/>
                </a:solidFill>
              </a:rPr>
              <a:t>投喂计划回写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io">
  <a:themeElements>
    <a:clrScheme name="Studio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F59E0B"/>
      </a:accent2>
      <a:accent3>
        <a:srgbClr val="10B981"/>
      </a:accent3>
      <a:accent4>
        <a:srgbClr val="EF4444"/>
      </a:accent4>
      <a:accent5>
        <a:srgbClr val="8B5CF6"/>
      </a:accent5>
      <a:accent6>
        <a:srgbClr val="06B6D4"/>
      </a:accent6>
      <a:hlink>
        <a:srgbClr val="2563EB"/>
      </a:hlink>
      <a:folHlink>
        <a:srgbClr val="7C3AED"/>
      </a:folHlink>
    </a:clrScheme>
    <a:fontScheme name="Studio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Studi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</a:ln>
        <a:ln w="12700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dsh-ppt-studio</Application>
  <Slides>13</Slides>
</Properties>
</file>

<file path=docProps/core.xml><?xml version="1.0" encoding="utf-8"?>
<cp:coreProperties xmlns:cp="http://schemas.openxmlformats.org/package/2006/metadata/core-properties" xmlns:dc="http://purl.org/dc/elements/1.1/">
  <dc:title>南礁深海网箱 · 投喂与巡检（第三批 · 从零重画）</dc:title>
  <dc:creator>dsh-ppt-studio</dc:creator>
  <cp:lastModifiedBy>dsh-ppt-studio</cp:lastModifiedBy>
  <dcterms:created xmlns:dcterms="http://purl.org/dc/terms/" xmlns:xsi="http://www.w3.org/2001/XMLSchema-instance" xsi:type="dcterms:W3CDTF">2026-09-29T11:15:21.841Z</dcterms:created>
  <dcterms:modified xmlns:dcterms="http://purl.org/dc/terms/" xmlns:xsi="http://www.w3.org/2001/XMLSchema-instance" xsi:type="dcterms:W3CDTF">2026-09-29T11:15:21.841Z</dcterms:modified>
</cp:coreProperties>
</file>