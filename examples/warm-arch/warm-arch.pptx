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webp" ContentType="image/web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 algn="l">
      <a:defRPr sz="1800"/>
    </a:lvl1pPr>
    <a:lvl2pPr>
      <a:defRPr sz="1400"/>
    </a:lvl2pPr>
    <a:lvl3pPr>
      <a:defRPr sz="1200"/>
    </a:lvl3pPr>
    <a:lvl4pPr>
      <a:defRPr sz="1200"/>
    </a:lvl4pPr>
    <a:lvl5pPr>
      <a:defRPr sz="1200"/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/>
    </p:titleStyle>
    <p:bodyStyle>
      <a:lvl1pPr algn="l"/>
    </p:bodyStyle>
    <p:otherStyle>
      <a:lvl1pPr algn="l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title"/>
          <p:cNvSpPr txBox="1"/>
          <p:nvPr/>
        </p:nvSpPr>
        <p:spPr>
          <a:xfrm>
            <a:off x="508000" y="609600"/>
            <a:ext cx="5334000" cy="355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2000">
                <a:solidFill>
                  <a:srgbClr val="431407"/>
                </a:solidFill>
              </a:rPr>
              <a:t>仿真模型架构</a:t>
            </a:r>
          </a:p>
        </p:txBody>
      </p:sp>
      <p:sp>
        <p:nvSpPr>
          <p:cNvPr id="1001" name="l1"/>
          <p:cNvSpPr txBox="1"/>
          <p:nvPr/>
        </p:nvSpPr>
        <p:spPr>
          <a:xfrm>
            <a:off x="711200" y="1219200"/>
            <a:ext cx="2032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431407"/>
                </a:solidFill>
              </a:rPr>
              <a:t>① 输入层</a:t>
            </a:r>
          </a:p>
        </p:txBody>
      </p:sp>
      <p:sp>
        <p:nvSpPr>
          <p:cNvPr id="1002" name="l2"/>
          <p:cNvSpPr txBox="1"/>
          <p:nvPr/>
        </p:nvSpPr>
        <p:spPr>
          <a:xfrm>
            <a:off x="4826000" y="1219200"/>
            <a:ext cx="2794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400">
                <a:solidFill>
                  <a:srgbClr val="431407"/>
                </a:solidFill>
              </a:rPr>
              <a:t>② 仿真内核</a:t>
            </a:r>
          </a:p>
        </p:txBody>
      </p:sp>
      <p:sp>
        <p:nvSpPr>
          <p:cNvPr id="1003" name="l3"/>
          <p:cNvSpPr txBox="1"/>
          <p:nvPr/>
        </p:nvSpPr>
        <p:spPr>
          <a:xfrm>
            <a:off x="9906000" y="1219200"/>
            <a:ext cx="1778000" cy="2794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400">
                <a:solidFill>
                  <a:srgbClr val="431407"/>
                </a:solidFill>
              </a:rPr>
              <a:t>③ 输出层</a:t>
            </a:r>
          </a:p>
        </p:txBody>
      </p:sp>
      <p:sp>
        <p:nvSpPr>
          <p:cNvPr id="1004" name="inp"/>
          <p:cNvSpPr/>
          <p:nvPr/>
        </p:nvSpPr>
        <p:spPr>
          <a:xfrm>
            <a:off x="635000" y="2286000"/>
            <a:ext cx="1905000" cy="1651000"/>
          </a:xfrm>
          <a:prstGeom prst="parallelogram">
            <a:avLst>
              <a:gd name="adj" fmla="val 25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5" name="inp_lab"/>
          <p:cNvSpPr txBox="1"/>
          <p:nvPr/>
        </p:nvSpPr>
        <p:spPr>
          <a:xfrm>
            <a:off x="787400" y="2946400"/>
            <a:ext cx="1600200" cy="355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400">
                <a:solidFill>
                  <a:srgbClr val="FFFBEB"/>
                </a:solidFill>
              </a:rPr>
              <a:t>数据输入模块</a:t>
            </a:r>
          </a:p>
        </p:txBody>
      </p:sp>
      <p:sp>
        <p:nvSpPr>
          <p:cNvPr id="1006" name="core"/>
          <p:cNvSpPr/>
          <p:nvPr/>
        </p:nvSpPr>
        <p:spPr>
          <a:xfrm>
            <a:off x="3175000" y="1778000"/>
            <a:ext cx="5969000" cy="3810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7" name="m1"/>
          <p:cNvSpPr/>
          <p:nvPr/>
        </p:nvSpPr>
        <p:spPr>
          <a:xfrm>
            <a:off x="3429000" y="2032000"/>
            <a:ext cx="5461000" cy="8890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08" name="m1_lab"/>
          <p:cNvSpPr txBox="1"/>
          <p:nvPr/>
        </p:nvSpPr>
        <p:spPr>
          <a:xfrm>
            <a:off x="3556000" y="2286000"/>
            <a:ext cx="5207000" cy="381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>
                <a:solidFill>
                  <a:srgbClr val="FFFBEB"/>
                </a:solidFill>
              </a:rPr>
              <a:t>车间生产模块</a:t>
            </a:r>
          </a:p>
        </p:txBody>
      </p:sp>
      <p:sp>
        <p:nvSpPr>
          <p:cNvPr id="1009" name="m2"/>
          <p:cNvSpPr/>
          <p:nvPr/>
        </p:nvSpPr>
        <p:spPr>
          <a:xfrm>
            <a:off x="3429000" y="3048000"/>
            <a:ext cx="5461000" cy="8890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0" name="m2_lab"/>
          <p:cNvSpPr txBox="1"/>
          <p:nvPr/>
        </p:nvSpPr>
        <p:spPr>
          <a:xfrm>
            <a:off x="3556000" y="3302000"/>
            <a:ext cx="5207000" cy="381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>
                <a:solidFill>
                  <a:srgbClr val="FFFBEB"/>
                </a:solidFill>
              </a:rPr>
              <a:t>负载评估模块</a:t>
            </a:r>
          </a:p>
        </p:txBody>
      </p:sp>
      <p:sp>
        <p:nvSpPr>
          <p:cNvPr id="1011" name="m3"/>
          <p:cNvSpPr/>
          <p:nvPr/>
        </p:nvSpPr>
        <p:spPr>
          <a:xfrm>
            <a:off x="3429000" y="4064000"/>
            <a:ext cx="5461000" cy="8890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2" name="m3_lab"/>
          <p:cNvSpPr txBox="1"/>
          <p:nvPr/>
        </p:nvSpPr>
        <p:spPr>
          <a:xfrm>
            <a:off x="3556000" y="4318000"/>
            <a:ext cx="5207000" cy="381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600">
                <a:solidFill>
                  <a:srgbClr val="FFFBEB"/>
                </a:solidFill>
              </a:rPr>
              <a:t>生产计划跟踪模块</a:t>
            </a:r>
          </a:p>
        </p:txBody>
      </p:sp>
      <p:sp>
        <p:nvSpPr>
          <p:cNvPr id="1013" name="outp"/>
          <p:cNvSpPr/>
          <p:nvPr/>
        </p:nvSpPr>
        <p:spPr>
          <a:xfrm>
            <a:off x="9779000" y="2286000"/>
            <a:ext cx="1905000" cy="1651000"/>
          </a:xfrm>
          <a:prstGeom prst="parallelogram">
            <a:avLst>
              <a:gd name="adj" fmla="val 25000"/>
            </a:avLst>
          </a:prstGeom>
          <a:solidFill>
            <a:srgbClr val="EA580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14" name="outp_lab"/>
          <p:cNvSpPr txBox="1"/>
          <p:nvPr/>
        </p:nvSpPr>
        <p:spPr>
          <a:xfrm>
            <a:off x="9931400" y="2946400"/>
            <a:ext cx="1600200" cy="3556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300">
                <a:solidFill>
                  <a:srgbClr val="FFFBEB"/>
                </a:solidFill>
              </a:rPr>
              <a:t>数据分析与输出模块</a:t>
            </a:r>
          </a:p>
        </p:txBody>
      </p:sp>
      <p:cxnSp>
        <p:nvCxnSpPr>
          <p:cNvPr id="1015" name="tr_in"/>
          <p:cNvCxnSpPr/>
          <p:nvPr/>
        </p:nvCxnSpPr>
        <p:spPr>
          <a:xfrm>
            <a:off x="2540000" y="3111500"/>
            <a:ext cx="406400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16" name="tr_v"/>
          <p:cNvCxnSpPr/>
          <p:nvPr/>
        </p:nvCxnSpPr>
        <p:spPr>
          <a:xfrm>
            <a:off x="2946400" y="2476500"/>
            <a:ext cx="0" cy="203200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17" name="br1"/>
          <p:cNvCxnSpPr/>
          <p:nvPr/>
        </p:nvCxnSpPr>
        <p:spPr>
          <a:xfrm>
            <a:off x="2946400" y="2476500"/>
            <a:ext cx="4826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18" name="br2"/>
          <p:cNvCxnSpPr/>
          <p:nvPr/>
        </p:nvCxnSpPr>
        <p:spPr>
          <a:xfrm>
            <a:off x="2946400" y="3492500"/>
            <a:ext cx="4826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19" name="br3"/>
          <p:cNvCxnSpPr/>
          <p:nvPr/>
        </p:nvCxnSpPr>
        <p:spPr>
          <a:xfrm>
            <a:off x="2946400" y="4508500"/>
            <a:ext cx="4826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cxnSp>
        <p:nvCxnSpPr>
          <p:cNvPr id="1020" name="st1"/>
          <p:cNvCxnSpPr/>
          <p:nvPr/>
        </p:nvCxnSpPr>
        <p:spPr>
          <a:xfrm>
            <a:off x="8890000" y="2476500"/>
            <a:ext cx="508000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21" name="st2"/>
          <p:cNvCxnSpPr/>
          <p:nvPr/>
        </p:nvCxnSpPr>
        <p:spPr>
          <a:xfrm>
            <a:off x="8890000" y="3492500"/>
            <a:ext cx="508000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22" name="st3"/>
          <p:cNvCxnSpPr/>
          <p:nvPr/>
        </p:nvCxnSpPr>
        <p:spPr>
          <a:xfrm>
            <a:off x="8890000" y="4508500"/>
            <a:ext cx="508000" cy="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23" name="col_v"/>
          <p:cNvCxnSpPr/>
          <p:nvPr/>
        </p:nvCxnSpPr>
        <p:spPr>
          <a:xfrm>
            <a:off x="9398000" y="2476500"/>
            <a:ext cx="0" cy="2032000"/>
          </a:xfrm>
          <a:prstGeom prst="straightConnector1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024" name="out_arrow"/>
          <p:cNvCxnSpPr/>
          <p:nvPr/>
        </p:nvCxnSpPr>
        <p:spPr>
          <a:xfrm>
            <a:off x="9398000" y="3492500"/>
            <a:ext cx="635000" cy="0"/>
          </a:xfrm>
          <a:prstGeom prst="straightConnector1">
            <a:avLst/>
          </a:prstGeom>
          <a:ln w="12700">
            <a:solidFill>
              <a:srgbClr val="000000"/>
            </a:solidFill>
            <a:tailEnd type="triangle" w="med" len="med"/>
          </a:ln>
        </p:spPr>
      </p:cxnSp>
      <p:sp>
        <p:nvSpPr>
          <p:cNvPr id="1025" name="fb"/>
          <p:cNvSpPr/>
          <p:nvPr/>
        </p:nvSpPr>
        <p:spPr>
          <a:xfrm>
            <a:off x="1587500" y="3937000"/>
            <a:ext cx="9271000" cy="16510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100000" y="0"/>
                </a:moveTo>
                <a:lnTo>
                  <a:pt x="100000" y="100000"/>
                </a:lnTo>
                <a:lnTo>
                  <a:pt x="0" y="1000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431407"/>
            </a:solidFill>
            <a:prstDash val="dash"/>
            <a:tailEnd type="triangle" w="med" len="med"/>
          </a:ln>
        </p:spPr>
        <p:txBody>
          <a:bodyPr/>
          <a:lstStyle/>
          <a:p/>
        </p:txBody>
      </p:sp>
      <p:sp>
        <p:nvSpPr>
          <p:cNvPr id="1026" name="fb_mask"/>
          <p:cNvSpPr/>
          <p:nvPr/>
        </p:nvSpPr>
        <p:spPr>
          <a:xfrm>
            <a:off x="5715000" y="5435600"/>
            <a:ext cx="1320800" cy="3048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27" name="fb_lab"/>
          <p:cNvSpPr txBox="1"/>
          <p:nvPr/>
        </p:nvSpPr>
        <p:spPr>
          <a:xfrm>
            <a:off x="5715000" y="5473700"/>
            <a:ext cx="1320800" cy="25400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1300">
                <a:solidFill>
                  <a:srgbClr val="431407"/>
                </a:solidFill>
              </a:rPr>
              <a:t>迭代反馈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io">
  <a:themeElements>
    <a:clrScheme name="Studio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F59E0B"/>
      </a:accent2>
      <a:accent3>
        <a:srgbClr val="10B981"/>
      </a:accent3>
      <a:accent4>
        <a:srgbClr val="EF4444"/>
      </a:accent4>
      <a:accent5>
        <a:srgbClr val="8B5CF6"/>
      </a:accent5>
      <a:accent6>
        <a:srgbClr val="06B6D4"/>
      </a:accent6>
      <a:hlink>
        <a:srgbClr val="2563EB"/>
      </a:hlink>
      <a:folHlink>
        <a:srgbClr val="7C3AED"/>
      </a:folHlink>
    </a:clrScheme>
    <a:fontScheme name="Studio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Stud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dsh-ppt-studio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仿真模型架构（暖色系·手写范例）</dc:title>
  <dc:creator>dsh-ppt-studio</dc:creator>
  <cp:lastModifiedBy>dsh-ppt-studio</cp:lastModifiedBy>
  <dcterms:created xmlns:dcterms="http://purl.org/dc/terms/" xmlns:xsi="http://www.w3.org/2001/XMLSchema-instance" xsi:type="dcterms:W3CDTF">2026-09-28T17:34:36.912Z</dcterms:created>
  <dcterms:modified xmlns:dcterms="http://purl.org/dc/terms/" xmlns:xsi="http://www.w3.org/2001/XMLSchema-instance" xsi:type="dcterms:W3CDTF">2026-09-28T17:34:36.912Z</dcterms:modified>
</cp:coreProperties>
</file>