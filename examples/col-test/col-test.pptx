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gif" ContentType="image/gif"/>
  <Default Extension="webp" ContentType="image/webp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lvl1pPr algn="l">
      <a:defRPr sz="1800"/>
    </a:lvl1pPr>
    <a:lvl2pPr>
      <a:defRPr sz="1400"/>
    </a:lvl2pPr>
    <a:lvl3pPr>
      <a:defRPr sz="1200"/>
    </a:lvl3pPr>
    <a:lvl4pPr>
      <a:defRPr sz="1200"/>
    </a:lvl4pPr>
    <a:lvl5pPr>
      <a:defRPr sz="1200"/>
    </a:lvl5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/>
    </p:titleStyle>
    <p:bodyStyle>
      <a:lvl1pPr algn="l"/>
    </p:bodyStyle>
    <p:otherStyle>
      <a:lvl1pPr algn="l"/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d1_s0"/>
          <p:cNvSpPr/>
          <p:nvPr/>
        </p:nvSpPr>
        <p:spPr>
          <a:xfrm>
            <a:off x="2794000" y="787400"/>
            <a:ext cx="6616700" cy="7747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01" name="d1_t_s0"/>
          <p:cNvSpPr txBox="1"/>
          <p:nvPr/>
        </p:nvSpPr>
        <p:spPr>
          <a:xfrm>
            <a:off x="3162300" y="889000"/>
            <a:ext cx="6146800" cy="263398"/>
          </a:xfrm>
          <a:prstGeom prst="rect">
            <a:avLst/>
          </a:prstGeom>
        </p:spPr>
        <p:txBody>
          <a:bodyPr wrap="none" lIns="0" rIns="0" tIns="0" bIns="0"/>
          <a:lstStyle/>
          <a:p>
            <a:pPr algn="l" lvl="0"/>
            <a:r>
              <a:rPr lang="zh-CN" sz="1400">
                <a:solidFill>
                  <a:srgbClr val="FFFFFF"/>
                </a:solidFill>
              </a:rPr>
              <a:t>待受理</a:t>
            </a:r>
          </a:p>
        </p:txBody>
      </p:sp>
      <p:sp>
        <p:nvSpPr>
          <p:cNvPr id="1002" name="d1_bd_s0"/>
          <p:cNvSpPr/>
          <p:nvPr/>
        </p:nvSpPr>
        <p:spPr>
          <a:xfrm>
            <a:off x="2895600" y="876300"/>
            <a:ext cx="203200" cy="203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03" name="d1_bt_s0"/>
          <p:cNvSpPr txBox="1"/>
          <p:nvPr/>
        </p:nvSpPr>
        <p:spPr>
          <a:xfrm>
            <a:off x="2895600" y="900684"/>
            <a:ext cx="203200" cy="1625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ctr" lvl="0"/>
            <a:r>
              <a:rPr lang="zh-CN" sz="88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004" name="d1_s_s0"/>
          <p:cNvSpPr txBox="1"/>
          <p:nvPr/>
        </p:nvSpPr>
        <p:spPr>
          <a:xfrm>
            <a:off x="2895600" y="1190244"/>
            <a:ext cx="6413500" cy="2324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148">
                <a:solidFill>
                  <a:srgbClr val="FFFFFF"/>
                </a:solidFill>
              </a:rPr>
              <a:t>工单已创建</a:t>
            </a:r>
          </a:p>
        </p:txBody>
      </p:sp>
      <p:sp>
        <p:nvSpPr>
          <p:cNvPr id="1005" name="d1_s1"/>
          <p:cNvSpPr/>
          <p:nvPr/>
        </p:nvSpPr>
        <p:spPr>
          <a:xfrm>
            <a:off x="2794000" y="1917700"/>
            <a:ext cx="6616700" cy="7747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06" name="d1_t_s1"/>
          <p:cNvSpPr txBox="1"/>
          <p:nvPr/>
        </p:nvSpPr>
        <p:spPr>
          <a:xfrm>
            <a:off x="3162300" y="2019300"/>
            <a:ext cx="6146800" cy="263398"/>
          </a:xfrm>
          <a:prstGeom prst="rect">
            <a:avLst/>
          </a:prstGeom>
        </p:spPr>
        <p:txBody>
          <a:bodyPr wrap="none" lIns="0" rIns="0" tIns="0" bIns="0"/>
          <a:lstStyle/>
          <a:p>
            <a:pPr algn="l" lvl="0"/>
            <a:r>
              <a:rPr lang="zh-CN" sz="1400">
                <a:solidFill>
                  <a:srgbClr val="FFFFFF"/>
                </a:solidFill>
              </a:rPr>
              <a:t>已派单</a:t>
            </a:r>
          </a:p>
        </p:txBody>
      </p:sp>
      <p:sp>
        <p:nvSpPr>
          <p:cNvPr id="1007" name="d1_bd_s1"/>
          <p:cNvSpPr/>
          <p:nvPr/>
        </p:nvSpPr>
        <p:spPr>
          <a:xfrm>
            <a:off x="2895600" y="2006600"/>
            <a:ext cx="203200" cy="203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08" name="d1_bt_s1"/>
          <p:cNvSpPr txBox="1"/>
          <p:nvPr/>
        </p:nvSpPr>
        <p:spPr>
          <a:xfrm>
            <a:off x="2895600" y="2030984"/>
            <a:ext cx="203200" cy="1625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ctr" lvl="0"/>
            <a:r>
              <a:rPr lang="zh-CN" sz="88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009" name="d1_s_s1"/>
          <p:cNvSpPr txBox="1"/>
          <p:nvPr/>
        </p:nvSpPr>
        <p:spPr>
          <a:xfrm>
            <a:off x="2895600" y="2320544"/>
            <a:ext cx="6413500" cy="2324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148">
                <a:solidFill>
                  <a:srgbClr val="FFFFFF"/>
                </a:solidFill>
              </a:rPr>
              <a:t>指定工程师</a:t>
            </a:r>
          </a:p>
        </p:txBody>
      </p:sp>
      <p:sp>
        <p:nvSpPr>
          <p:cNvPr id="1010" name="d1_s2"/>
          <p:cNvSpPr/>
          <p:nvPr/>
        </p:nvSpPr>
        <p:spPr>
          <a:xfrm>
            <a:off x="2794000" y="3048000"/>
            <a:ext cx="6616700" cy="7747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11" name="d1_t_s2"/>
          <p:cNvSpPr txBox="1"/>
          <p:nvPr/>
        </p:nvSpPr>
        <p:spPr>
          <a:xfrm>
            <a:off x="3162300" y="3149600"/>
            <a:ext cx="6146800" cy="263398"/>
          </a:xfrm>
          <a:prstGeom prst="rect">
            <a:avLst/>
          </a:prstGeom>
        </p:spPr>
        <p:txBody>
          <a:bodyPr wrap="none" lIns="0" rIns="0" tIns="0" bIns="0"/>
          <a:lstStyle/>
          <a:p>
            <a:pPr algn="l" lvl="0"/>
            <a:r>
              <a:rPr lang="zh-CN" sz="1400">
                <a:solidFill>
                  <a:srgbClr val="FFFFFF"/>
                </a:solidFill>
              </a:rPr>
              <a:t>维修中</a:t>
            </a:r>
          </a:p>
        </p:txBody>
      </p:sp>
      <p:sp>
        <p:nvSpPr>
          <p:cNvPr id="1012" name="d1_bd_s2"/>
          <p:cNvSpPr/>
          <p:nvPr/>
        </p:nvSpPr>
        <p:spPr>
          <a:xfrm>
            <a:off x="2895600" y="3136900"/>
            <a:ext cx="203200" cy="203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13" name="d1_bt_s2"/>
          <p:cNvSpPr txBox="1"/>
          <p:nvPr/>
        </p:nvSpPr>
        <p:spPr>
          <a:xfrm>
            <a:off x="2895600" y="3161284"/>
            <a:ext cx="203200" cy="1625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ctr" lvl="0"/>
            <a:r>
              <a:rPr lang="zh-CN" sz="88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1014" name="d1_s_s2"/>
          <p:cNvSpPr txBox="1"/>
          <p:nvPr/>
        </p:nvSpPr>
        <p:spPr>
          <a:xfrm>
            <a:off x="2895600" y="3450844"/>
            <a:ext cx="6413500" cy="2324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148">
                <a:solidFill>
                  <a:srgbClr val="FFFFFF"/>
                </a:solidFill>
              </a:rPr>
              <a:t>现场处理</a:t>
            </a:r>
          </a:p>
        </p:txBody>
      </p:sp>
      <p:sp>
        <p:nvSpPr>
          <p:cNvPr id="1015" name="d1_s3"/>
          <p:cNvSpPr/>
          <p:nvPr/>
        </p:nvSpPr>
        <p:spPr>
          <a:xfrm>
            <a:off x="2794000" y="4178300"/>
            <a:ext cx="6616700" cy="7747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16" name="d1_t_s3"/>
          <p:cNvSpPr txBox="1"/>
          <p:nvPr/>
        </p:nvSpPr>
        <p:spPr>
          <a:xfrm>
            <a:off x="3162300" y="4279900"/>
            <a:ext cx="6146800" cy="263398"/>
          </a:xfrm>
          <a:prstGeom prst="rect">
            <a:avLst/>
          </a:prstGeom>
        </p:spPr>
        <p:txBody>
          <a:bodyPr wrap="none" lIns="0" rIns="0" tIns="0" bIns="0"/>
          <a:lstStyle/>
          <a:p>
            <a:pPr algn="l" lvl="0"/>
            <a:r>
              <a:rPr lang="zh-CN" sz="1400">
                <a:solidFill>
                  <a:srgbClr val="FFFFFF"/>
                </a:solidFill>
              </a:rPr>
              <a:t>待验收</a:t>
            </a:r>
          </a:p>
        </p:txBody>
      </p:sp>
      <p:sp>
        <p:nvSpPr>
          <p:cNvPr id="1017" name="d1_bd_s3"/>
          <p:cNvSpPr/>
          <p:nvPr/>
        </p:nvSpPr>
        <p:spPr>
          <a:xfrm>
            <a:off x="2895600" y="4267200"/>
            <a:ext cx="203200" cy="203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18" name="d1_bt_s3"/>
          <p:cNvSpPr txBox="1"/>
          <p:nvPr/>
        </p:nvSpPr>
        <p:spPr>
          <a:xfrm>
            <a:off x="2895600" y="4291584"/>
            <a:ext cx="203200" cy="1625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ctr" lvl="0"/>
            <a:r>
              <a:rPr lang="zh-CN" sz="88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1019" name="d1_s_s3"/>
          <p:cNvSpPr txBox="1"/>
          <p:nvPr/>
        </p:nvSpPr>
        <p:spPr>
          <a:xfrm>
            <a:off x="2895600" y="4581144"/>
            <a:ext cx="6413500" cy="2324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148">
                <a:solidFill>
                  <a:srgbClr val="FFFFFF"/>
                </a:solidFill>
              </a:rPr>
              <a:t>用户确认</a:t>
            </a:r>
          </a:p>
        </p:txBody>
      </p:sp>
      <p:sp>
        <p:nvSpPr>
          <p:cNvPr id="1020" name="d1_s4"/>
          <p:cNvSpPr/>
          <p:nvPr/>
        </p:nvSpPr>
        <p:spPr>
          <a:xfrm>
            <a:off x="2794000" y="5308600"/>
            <a:ext cx="6616700" cy="7747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21" name="d1_t_s4"/>
          <p:cNvSpPr txBox="1"/>
          <p:nvPr/>
        </p:nvSpPr>
        <p:spPr>
          <a:xfrm>
            <a:off x="3162300" y="5410200"/>
            <a:ext cx="6146800" cy="263398"/>
          </a:xfrm>
          <a:prstGeom prst="rect">
            <a:avLst/>
          </a:prstGeom>
        </p:spPr>
        <p:txBody>
          <a:bodyPr wrap="none" lIns="0" rIns="0" tIns="0" bIns="0"/>
          <a:lstStyle/>
          <a:p>
            <a:pPr algn="l" lvl="0"/>
            <a:r>
              <a:rPr lang="zh-CN" sz="1400">
                <a:solidFill>
                  <a:srgbClr val="FFFFFF"/>
                </a:solidFill>
              </a:rPr>
              <a:t>已归档</a:t>
            </a:r>
          </a:p>
        </p:txBody>
      </p:sp>
      <p:sp>
        <p:nvSpPr>
          <p:cNvPr id="1022" name="d1_bd_s4"/>
          <p:cNvSpPr/>
          <p:nvPr/>
        </p:nvSpPr>
        <p:spPr>
          <a:xfrm>
            <a:off x="2895600" y="5397500"/>
            <a:ext cx="203200" cy="203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23" name="d1_bt_s4"/>
          <p:cNvSpPr txBox="1"/>
          <p:nvPr/>
        </p:nvSpPr>
        <p:spPr>
          <a:xfrm>
            <a:off x="2895600" y="5421884"/>
            <a:ext cx="203200" cy="1625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ctr" lvl="0"/>
            <a:r>
              <a:rPr lang="zh-CN" sz="880">
                <a:solidFill>
                  <a:srgbClr val="1F2937"/>
                </a:solidFill>
              </a:rPr>
              <a:t>5</a:t>
            </a:r>
          </a:p>
        </p:txBody>
      </p:sp>
      <p:sp>
        <p:nvSpPr>
          <p:cNvPr id="1024" name="d1_s_s4"/>
          <p:cNvSpPr txBox="1"/>
          <p:nvPr/>
        </p:nvSpPr>
        <p:spPr>
          <a:xfrm>
            <a:off x="2895600" y="5711444"/>
            <a:ext cx="6413500" cy="2324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148">
                <a:solidFill>
                  <a:srgbClr val="FFFFFF"/>
                </a:solidFill>
              </a:rPr>
              <a:t>计入台账</a:t>
            </a:r>
          </a:p>
        </p:txBody>
      </p:sp>
      <p:sp>
        <p:nvSpPr>
          <p:cNvPr id="1025" name="d1_ch_chain_s0_s1"/>
          <p:cNvSpPr/>
          <p:nvPr/>
        </p:nvSpPr>
        <p:spPr>
          <a:xfrm rot="16200000">
            <a:off x="5988050" y="1689100"/>
            <a:ext cx="228600" cy="177800"/>
          </a:xfrm>
          <a:prstGeom prst="chevron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26" name="d1_ch_chain_s1_s2"/>
          <p:cNvSpPr/>
          <p:nvPr/>
        </p:nvSpPr>
        <p:spPr>
          <a:xfrm rot="16200000">
            <a:off x="5988050" y="2819400"/>
            <a:ext cx="228600" cy="177800"/>
          </a:xfrm>
          <a:prstGeom prst="chevron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27" name="d1_ch_chain_s2_s3"/>
          <p:cNvSpPr/>
          <p:nvPr/>
        </p:nvSpPr>
        <p:spPr>
          <a:xfrm rot="16200000">
            <a:off x="5988050" y="3949700"/>
            <a:ext cx="228600" cy="177800"/>
          </a:xfrm>
          <a:prstGeom prst="chevron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28" name="d1_ch_chain_s3_s4"/>
          <p:cNvSpPr/>
          <p:nvPr/>
        </p:nvSpPr>
        <p:spPr>
          <a:xfrm rot="16200000">
            <a:off x="5988050" y="5080000"/>
            <a:ext cx="228600" cy="177800"/>
          </a:xfrm>
          <a:prstGeom prst="chevron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29" name="d1_e0"/>
          <p:cNvSpPr/>
          <p:nvPr/>
        </p:nvSpPr>
        <p:spPr>
          <a:xfrm>
            <a:off x="2463800" y="3435350"/>
            <a:ext cx="330200" cy="11303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100000" y="100000"/>
                </a:moveTo>
                <a:lnTo>
                  <a:pt x="0" y="100000"/>
                </a:lnTo>
                <a:lnTo>
                  <a:pt x="0" y="0"/>
                </a:lnTo>
                <a:lnTo>
                  <a:pt x="100000" y="0"/>
                </a:lnTo>
              </a:path>
            </a:pathLst>
          </a:custGeom>
          <a:noFill/>
          <a:ln w="12700">
            <a:solidFill>
              <a:srgbClr val="1F2937"/>
            </a:solidFill>
            <a:prstDash val="dash"/>
            <a:tailEnd type="triangle" w="med" len="med"/>
          </a:ln>
        </p:spPr>
        <p:txBody>
          <a:bodyPr/>
          <a:lstStyle/>
          <a:p/>
        </p:txBody>
      </p:sp>
      <p:sp>
        <p:nvSpPr>
          <p:cNvPr id="1030" name="d1_el_e0"/>
          <p:cNvSpPr txBox="1"/>
          <p:nvPr/>
        </p:nvSpPr>
        <p:spPr>
          <a:xfrm>
            <a:off x="NaN" y="NaN"/>
            <a:ext cx="NaN" cy="203200"/>
          </a:xfrm>
          <a:prstGeom prst="rect">
            <a:avLst/>
          </a:prstGeom>
        </p:spPr>
        <p:txBody>
          <a:bodyPr wrap="none" lIns="0" rIns="0" tIns="0" bIns="0"/>
          <a:lstStyle/>
          <a:p>
            <a:pPr algn="ctr" lvl="0"/>
            <a:r>
              <a:rPr lang="zh-CN" sz="1200">
                <a:solidFill>
                  <a:srgbClr val="1F2937"/>
                </a:solidFill>
              </a:rPr>
              <a:t>返工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udio">
  <a:themeElements>
    <a:clrScheme name="Studio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F59E0B"/>
      </a:accent2>
      <a:accent3>
        <a:srgbClr val="10B981"/>
      </a:accent3>
      <a:accent4>
        <a:srgbClr val="EF4444"/>
      </a:accent4>
      <a:accent5>
        <a:srgbClr val="8B5CF6"/>
      </a:accent5>
      <a:accent6>
        <a:srgbClr val="06B6D4"/>
      </a:accent6>
      <a:hlink>
        <a:srgbClr val="2563EB"/>
      </a:hlink>
      <a:folHlink>
        <a:srgbClr val="7C3AED"/>
      </a:folHlink>
    </a:clrScheme>
    <a:fontScheme name="Studio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Studi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</a:ln>
        <a:ln w="12700" cap="flat" cmpd="sng" algn="ctr">
          <a:solidFill>
            <a:schemeClr val="phClr"/>
          </a:solidFill>
        </a:ln>
        <a:ln w="1905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dsh-ppt-studio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t</dc:title>
  <dc:creator>dsh-ppt-studio</dc:creator>
  <cp:lastModifiedBy>dsh-ppt-studio</cp:lastModifiedBy>
  <dcterms:created xmlns:dcterms="http://purl.org/dc/terms/" xmlns:xsi="http://www.w3.org/2001/XMLSchema-instance" xsi:type="dcterms:W3CDTF">2026-09-29T12:16:11.160Z</dcterms:created>
  <dcterms:modified xmlns:dcterms="http://purl.org/dc/terms/" xmlns:xsi="http://www.w3.org/2001/XMLSchema-instance" xsi:type="dcterms:W3CDTF">2026-09-29T12:16:11.160Z</dcterms:modified>
</cp:coreProperties>
</file>